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328" r:id="rId3"/>
    <p:sldId id="329" r:id="rId4"/>
    <p:sldId id="347" r:id="rId5"/>
    <p:sldId id="348" r:id="rId6"/>
    <p:sldId id="349" r:id="rId7"/>
    <p:sldId id="350" r:id="rId8"/>
    <p:sldId id="352" r:id="rId9"/>
    <p:sldId id="351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27" r:id="rId18"/>
    <p:sldId id="36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E999-9D79-451D-AA64-C7E198F3485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EE5CA-28BF-4C09-A261-D7B8DC04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843D9-BBE1-666A-684E-95A5B3239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862590-7793-E4DC-9848-D70C5790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B5594-B36F-550C-87AA-872D160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632-7EF8-4694-B395-BC4AA4492B96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DF123-83AF-B827-F60D-F07C343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D8016-B96A-EA99-8CA4-2F07CB3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1846-A3C4-66BE-C19B-426B1493C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 err="1"/>
              <a:t>Titl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C5572-D860-474C-3FA5-5E30E8F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DAD4A-25E5-4A46-10C7-7DC6F9A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1BD3-8305-43B3-9923-257FBF1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B44BB-CE6C-823A-1547-8233127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83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1690-CD05-4B40-37BD-737F6C4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424CA2-E3AC-3DB7-5EA0-BCCFBFD7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75187-6338-EB7F-84C2-A8DFDBA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1B1B-2377-484C-AE5F-2482D325568D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116DC-C2D2-17FD-0670-4018A04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9505-77F3-973A-4A77-407A7D10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71688-7777-D341-8BE2-B080030C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6C86A-D334-9460-D672-B469FF474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F012F-B037-6BC0-DCEC-41C4F997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74B44-9A1F-1A00-7071-B7A0D8F9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01A2-46DF-4BFF-9016-C8103CEDFB81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D2EE9-C27C-2D74-C73E-A37EEB3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C3845-FA21-6B62-D010-5AFE32EA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A7400-0404-7A85-2E7E-032869E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737AF-1D5B-C0D9-87FA-4C1B726F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A33EE-9A1D-AB71-3288-76B57DFA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3D09D-7D5A-ABE8-DE38-113722A78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84B54F-E9B1-D2C4-EC9A-A7DC1D458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8A019-7B32-D688-0429-54BDB5A9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08F3-A94B-4B80-B11C-3E927B27F2B8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1D7954-2837-A14F-9B6C-076BD5F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B908F5-F72E-9604-D306-DD32A04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1B86-EBE2-0F57-090C-C31ACA79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7053E8-F883-E4FE-AE74-EAD091EE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3BB6-D684-4DF5-B5F0-CCFDC51A617B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7B020-F6E2-6C53-D638-67BAA47B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64D6A-08B3-7E5C-D2B6-F9A83DB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9B6784-24C4-FD43-CC24-A65B3BF3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D348-75BB-4FFE-A28E-8CED510818E6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8DAE8-9990-66D8-F5E0-00F83A6E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4574D-AE4B-6ACA-30E6-5BEF9C38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4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096AC-8778-2324-A216-02EA2B7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6749C-BFA7-E361-D0A8-12DF99A3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FB7CF-8E79-4D8C-1C94-05BCE7C6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CADF7-23A1-E5F4-CC89-52E73F54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788B-E27C-4361-9F1C-F5324F7742D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85F17-A3BF-7343-5350-697CE9FB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A9AE-1B19-89FA-ADAD-7F7E345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8925-5F77-79D9-978F-933303C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858C2-0CBE-DB93-826B-B8F0A60A0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916A2-7F4C-4213-A59D-9A6AC9D24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7B87D-17FA-2955-5560-AF994A73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440-C9FD-4F99-90BA-78EFFB603E89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5E172-8C53-896B-03D0-18189115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5A806D-5830-CB0B-19AE-8BC7CE3A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5BE68-DACB-517B-3599-DEA0857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12748-1AFA-BCD3-2832-DBC0E015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B65E9-6AA9-EA17-BAA6-E2879984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198C-CCE9-460E-AED7-4A9395234AFF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07831-DE17-1D7C-798E-71E628A6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E0FA4-F72C-A75A-3309-34C725B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93F05D-9D7F-0113-A82F-B9933690A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F68516-4C05-0C13-7E89-B7818AA4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97CB8-660C-2EC4-45A1-F733832E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4432-EBCE-4AAB-A7BA-6A72C50DCDD2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D62C1-191F-FBBB-783F-30323705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CC41C-E7FB-5CD5-F05E-F9A0123B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8E3F1-AC57-A1DB-19D3-B33ADE9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BD850F-97E2-EFEC-FA26-4E7BB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08438-D9C2-83FB-7F99-A83A8D6C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36EF872-42A0-4E78-9488-31172969FC5A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7D593-7453-216C-9AD2-F38172F88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A6965-E14F-BC2D-ED1F-9D4D0E79E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7F9607-BA5C-406C-B8F1-9CD34989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1122363"/>
            <a:ext cx="9289142" cy="2387600"/>
          </a:xfrm>
        </p:spPr>
        <p:txBody>
          <a:bodyPr>
            <a:normAutofit/>
          </a:bodyPr>
          <a:lstStyle/>
          <a:p>
            <a:r>
              <a:rPr lang="en-US" sz="5400" dirty="0"/>
              <a:t>How Important are Videos</a:t>
            </a:r>
            <a:br>
              <a:rPr lang="en-US" sz="5400" dirty="0"/>
            </a:br>
            <a:r>
              <a:rPr lang="en-US" sz="5400" dirty="0"/>
              <a:t>for Training Video LLMs?</a:t>
            </a:r>
            <a:endParaRPr lang="ko-KR" altLang="en-US" sz="5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38005-DB0F-0C19-1B25-DF2237A1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40B2D6-CFB5-8C80-B6E9-C80230CB5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Lydakis</a:t>
            </a:r>
            <a:r>
              <a:rPr lang="en-US" dirty="0"/>
              <a:t>, George, et al. "How Important are Videos for Training Video LLMs?." </a:t>
            </a:r>
            <a:r>
              <a:rPr lang="en-US" dirty="0" err="1"/>
              <a:t>arXiv</a:t>
            </a:r>
            <a:r>
              <a:rPr lang="en-US" dirty="0"/>
              <a:t> preprint arXiv:2506.06928 (2025).</a:t>
            </a:r>
          </a:p>
          <a:p>
            <a:r>
              <a:rPr lang="en-US" dirty="0"/>
              <a:t>CVPR ’25 Workshop Oral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165DB-AB15-921C-7AE1-D3E77922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50577-B2A1-46A2-AF02-CB9AFBA5B938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092160-3D32-3464-F227-BF2C2D7F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0F7703-AD2B-4CDD-91E3-B5BAF338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7412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85EA3-BB67-E7B2-C6D9-C200399F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F6125-4DE0-93F8-FDB0-3BA37DDE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A6C525-9FEB-EDE4-6658-0CBA9C9EE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QA is a challenging and highly combined task</a:t>
            </a:r>
          </a:p>
          <a:p>
            <a:pPr lvl="1"/>
            <a:r>
              <a:rPr lang="en-US" dirty="0"/>
              <a:t>Understanding questions (language part)</a:t>
            </a:r>
          </a:p>
          <a:p>
            <a:pPr lvl="1"/>
            <a:r>
              <a:rPr lang="en-US" dirty="0"/>
              <a:t>Extracting various visual features (vision part)</a:t>
            </a:r>
          </a:p>
          <a:p>
            <a:pPr lvl="1"/>
            <a:r>
              <a:rPr lang="en-US" dirty="0"/>
              <a:t>Understanding the evolution of the features (temporal reasoning?)</a:t>
            </a:r>
          </a:p>
          <a:p>
            <a:r>
              <a:rPr lang="en-US" dirty="0"/>
              <a:t>Thus training the video LLM consists of three stages:</a:t>
            </a:r>
          </a:p>
          <a:p>
            <a:pPr lvl="1"/>
            <a:r>
              <a:rPr lang="en-US" dirty="0"/>
              <a:t>Train LLM (language part)</a:t>
            </a:r>
          </a:p>
          <a:p>
            <a:pPr lvl="1"/>
            <a:r>
              <a:rPr lang="en-US" dirty="0"/>
              <a:t>Train images (vision part)</a:t>
            </a:r>
          </a:p>
          <a:p>
            <a:pPr lvl="1"/>
            <a:r>
              <a:rPr lang="en-US" dirty="0"/>
              <a:t>Train videos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B3752-81EB-FADD-DA66-60F97307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5B22A2-762B-4BA1-3251-FC84A396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7FD640-886F-93C8-EE13-1B3F6430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369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DFC2-82D4-B337-8C0D-2D2561D6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BC502-4110-40CA-A069-8AFB2FA2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55592-B394-F548-2C1E-0DEAE23FA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“…to what extent are Video LLMs acquiring temporal reasoning capabilities from their video finetuning?”</a:t>
            </a:r>
          </a:p>
          <a:p>
            <a:r>
              <a:rPr lang="en-US" dirty="0"/>
              <a:t>Surprisingly, it is very small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0D259E-3382-1112-C65F-A6F4653E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5D2EF-65A8-6998-AB6F-19D1AEE7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D154CF-D9B6-9C0C-08DC-9529F100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13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6F363-8FD1-FBDE-B4C3-03A8D5BA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Baseline: </a:t>
            </a:r>
            <a:r>
              <a:rPr lang="en-US" dirty="0" err="1"/>
              <a:t>LongVU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902878-D649-29C8-71FC-D6D1F94D2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Utilizing DINOv2 feature similarity to select a subset of the frame</a:t>
            </a:r>
          </a:p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8AC51-CE5A-E977-1B0B-3B0E673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B19368-B9AC-7CC4-FB56-5D4ACE2F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C5665D-687E-7CBC-BD4D-645A709C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70C4FB-B180-13D6-1A63-419AA989C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890" y="2286920"/>
            <a:ext cx="6888220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31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FF5C2-380D-2921-B67B-0D22EE6A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Video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17FFF3-BEEA-361F-A725-408A0D7A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79BF00-D0D1-C2E5-6D1F-4866C5F53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F0884D-F32B-B26A-EE4E-A5984A16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82B835-749A-8ED4-8113-87A9C5996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922" y="1323887"/>
            <a:ext cx="7706430" cy="535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8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A71DD-D8EB-1E2E-C87B-8A893015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98D84-E7B1-CD41-2DD3-748992E7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Video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C8918-02A6-9C71-B0E7-C48EEAD9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8610F6-BEB6-CF7D-F308-AAF69FAD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D6D11B-4C1D-6E38-9AC9-46A6D7A8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36C3EE-2DCF-C78F-5958-640F4E973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737" y="1552353"/>
            <a:ext cx="8896525" cy="447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3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9B143-9CA8-DCE1-C519-79A831BB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C7B73-4224-1D3D-1D79-7B6F4D9D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Video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DA86FC-F86A-3951-FFAB-1204881E2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pseudo videos are intentionally very information poor</a:t>
            </a:r>
          </a:p>
          <a:p>
            <a:r>
              <a:rPr lang="en-US" dirty="0"/>
              <a:t>The questions are very direct</a:t>
            </a:r>
          </a:p>
          <a:p>
            <a:r>
              <a:rPr lang="en-US" dirty="0"/>
              <a:t>The size is relatively small (100,000 vs 550,000)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C39A96-A481-CF78-9E3D-68989CA6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588766-B331-7461-8FB7-2FFE0AE6E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BC887E-C9FA-B8A5-799A-ED11D283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270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7A434-BB1E-8786-0A2F-D3854084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2057B-C393-210E-B2EC-476AE5B3C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of fine-tuning between</a:t>
            </a:r>
          </a:p>
          <a:p>
            <a:pPr lvl="1"/>
            <a:r>
              <a:rPr lang="en-US" dirty="0"/>
              <a:t>Image-only</a:t>
            </a:r>
          </a:p>
          <a:p>
            <a:pPr lvl="1"/>
            <a:r>
              <a:rPr lang="en-US" dirty="0"/>
              <a:t>Image =&gt; Pseudo Video</a:t>
            </a:r>
          </a:p>
          <a:p>
            <a:pPr lvl="1"/>
            <a:r>
              <a:rPr lang="en-US" dirty="0"/>
              <a:t>Image =&gt; Real Video</a:t>
            </a:r>
          </a:p>
          <a:p>
            <a:pPr lvl="1"/>
            <a:r>
              <a:rPr lang="en-US" dirty="0"/>
              <a:t>Image =&gt; Real Video =&gt; Pseudo Video</a:t>
            </a:r>
          </a:p>
          <a:p>
            <a:r>
              <a:rPr lang="en-US" dirty="0"/>
              <a:t>Ablation of hyperparameters</a:t>
            </a:r>
          </a:p>
          <a:p>
            <a:r>
              <a:rPr lang="en-US" dirty="0" err="1"/>
              <a:t>TVBench</a:t>
            </a:r>
            <a:r>
              <a:rPr lang="en-US" dirty="0"/>
              <a:t> as the benchmark, since it focuses on temporal reasoning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6A43F-8400-46B6-1388-262F22AC9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D7F8E8-EF31-84F5-4010-EDF516463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881BC-53DB-5804-8009-CF7A55B9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538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FE7F5-A167-E844-34FA-06B0A1DE1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Image-only is close to Video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8D3F-B361-6E54-7427-FB6CEF48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B1976-7406-B442-683C-F079F9C2D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9ED54-FD38-D1B3-AD64-BDF393C3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D7EA81-F82B-C67D-9479-1925EF3C1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73" y="1962825"/>
            <a:ext cx="9845749" cy="38497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D442324-645A-AC9C-8FB3-D3891BC038B0}"/>
              </a:ext>
            </a:extLst>
          </p:cNvPr>
          <p:cNvSpPr/>
          <p:nvPr/>
        </p:nvSpPr>
        <p:spPr>
          <a:xfrm>
            <a:off x="10377377" y="2126512"/>
            <a:ext cx="474921" cy="26439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B56A4C-6ACF-60D6-0D47-85EB1BB333C6}"/>
              </a:ext>
            </a:extLst>
          </p:cNvPr>
          <p:cNvSpPr/>
          <p:nvPr/>
        </p:nvSpPr>
        <p:spPr>
          <a:xfrm>
            <a:off x="5915247" y="2126512"/>
            <a:ext cx="474921" cy="26439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8413FB-FEDD-4DB2-9FAA-0FC4BFE206A2}"/>
              </a:ext>
            </a:extLst>
          </p:cNvPr>
          <p:cNvSpPr/>
          <p:nvPr/>
        </p:nvSpPr>
        <p:spPr>
          <a:xfrm>
            <a:off x="9796132" y="2126512"/>
            <a:ext cx="474921" cy="26439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56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FF23A-3735-A682-79BA-4F37557E6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 data is NOT helping much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ED071-A55B-EE2D-BA97-77864F51D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is of low quality,</a:t>
            </a:r>
          </a:p>
          <a:p>
            <a:r>
              <a:rPr lang="en-US" dirty="0"/>
              <a:t>And/or the architecture does not exploit rich data properly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E9193-D81C-24D8-35D7-D0FFE1C17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B02123-ED49-F4D2-0302-002CCFC71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6FA919-3B76-D624-2491-02F8AA74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B6C39C-A3C8-3E4B-DCE0-EC9A71042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95" y="2831950"/>
            <a:ext cx="10268410" cy="334501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E35A37C-1377-EC98-D16E-26512149D6A4}"/>
              </a:ext>
            </a:extLst>
          </p:cNvPr>
          <p:cNvSpPr/>
          <p:nvPr/>
        </p:nvSpPr>
        <p:spPr>
          <a:xfrm>
            <a:off x="10636104" y="3667937"/>
            <a:ext cx="471376" cy="7551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9B73A8-0D8F-A43D-3632-7FCC9EC550BD}"/>
              </a:ext>
            </a:extLst>
          </p:cNvPr>
          <p:cNvSpPr/>
          <p:nvPr/>
        </p:nvSpPr>
        <p:spPr>
          <a:xfrm>
            <a:off x="9867243" y="3667938"/>
            <a:ext cx="471376" cy="7551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01B995-73A3-98AC-B1E6-4EB076962FEC}"/>
              </a:ext>
            </a:extLst>
          </p:cNvPr>
          <p:cNvSpPr/>
          <p:nvPr/>
        </p:nvSpPr>
        <p:spPr>
          <a:xfrm>
            <a:off x="5624624" y="3667938"/>
            <a:ext cx="471376" cy="7551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AF4A6E-6659-63F7-AD52-FA0AFA2D61D6}"/>
              </a:ext>
            </a:extLst>
          </p:cNvPr>
          <p:cNvSpPr/>
          <p:nvPr/>
        </p:nvSpPr>
        <p:spPr>
          <a:xfrm>
            <a:off x="10636104" y="4504456"/>
            <a:ext cx="471376" cy="7551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24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98B2E-D24E-8984-128C-0DFE8164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Studies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B79A9-C6A2-6B1F-A186-B6943173B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pseudo videos are so simple that we can lead to some intuition</a:t>
            </a:r>
          </a:p>
          <a:p>
            <a:r>
              <a:rPr lang="en-US" dirty="0"/>
              <a:t>It is not general and may be limited to this pseudo data!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01D4CE-07B5-0CE6-777F-0D21CD59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FFA817-54CE-9268-4EE7-E729DB17B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2C0E7E-3B17-58F6-E6F1-9F00905A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20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3EA1-114C-7E64-C057-6BCAC3F6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A3BF0-2F93-2D9D-C8DD-AD2CCC41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Studies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5ED6F0-B346-F02E-A266-CF9D4090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0E4A66-4A71-30F5-77CA-813E39E1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FE62D0-7EC9-0C44-29E3-6D4E9983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F02A9C9-0AFD-FD7E-95F6-B9658FA46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09" y="2319634"/>
            <a:ext cx="10043115" cy="299138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B36C97-E80D-8EA2-50C6-F09CDCFBFB5B}"/>
              </a:ext>
            </a:extLst>
          </p:cNvPr>
          <p:cNvSpPr/>
          <p:nvPr/>
        </p:nvSpPr>
        <p:spPr>
          <a:xfrm>
            <a:off x="9636643" y="3172664"/>
            <a:ext cx="478464" cy="1129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92C2733-995F-97E9-CE7A-99962D1C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608" y="365125"/>
            <a:ext cx="2349373" cy="118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38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004D-A11C-C73C-ADCA-545639DF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28096B0-379A-2D4A-648B-DBC4B4ED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941" y="2089773"/>
            <a:ext cx="9172353" cy="348576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911969-8188-CDAA-BCA3-F13C8DF9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Studies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82C14E-F118-592C-D566-B47EB5140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A6D405-D6E4-B683-2FBD-DD887AC6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EC757-9343-84DE-BF3A-87F38519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55DBBB-294A-5580-FCD8-23EF6A279EE0}"/>
              </a:ext>
            </a:extLst>
          </p:cNvPr>
          <p:cNvSpPr/>
          <p:nvPr/>
        </p:nvSpPr>
        <p:spPr>
          <a:xfrm>
            <a:off x="9388550" y="2864011"/>
            <a:ext cx="464287" cy="4533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E82687A-18AB-7E9D-E5F8-AD7478D4B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608" y="365125"/>
            <a:ext cx="2349373" cy="118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81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017B-EFF2-25D2-1B9D-BAEC6591B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6DA5621-D539-A495-1D4D-F0604E5E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928" y="4081115"/>
            <a:ext cx="8442251" cy="19081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DF58427-ED79-905D-84C9-FAC79151B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380" y="1778414"/>
            <a:ext cx="8931349" cy="21711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739770A-05A0-8FCA-FB47-D8DE2F73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Studies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117D63-F079-9B8A-1631-63B17FC3C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98ADC5-602D-DCAB-AF65-5DD2EF2F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90EDFD-A579-F944-D4C5-4F52AE09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FC1C59-EB52-5C11-0D24-C8FD6A647C4F}"/>
              </a:ext>
            </a:extLst>
          </p:cNvPr>
          <p:cNvSpPr/>
          <p:nvPr/>
        </p:nvSpPr>
        <p:spPr>
          <a:xfrm>
            <a:off x="5780569" y="1831069"/>
            <a:ext cx="464287" cy="15979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1BDD00B-2D0E-1128-C6F7-60B0577BF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608" y="365125"/>
            <a:ext cx="2349373" cy="118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3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A8661-B65C-8B90-8D2B-2D38012BC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B4634C-2427-7396-4150-E6AD80B58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acquires considerable temporal reasoning ability w/o video</a:t>
            </a:r>
          </a:p>
          <a:p>
            <a:r>
              <a:rPr lang="en-US" dirty="0"/>
              <a:t>Currently, there are both data quality issue and architectural bottleneck</a:t>
            </a:r>
          </a:p>
          <a:p>
            <a:endParaRPr lang="en-US" dirty="0"/>
          </a:p>
          <a:p>
            <a:r>
              <a:rPr lang="en-US" dirty="0"/>
              <a:t>How can models achieve temporal reasoning capability using images alone?</a:t>
            </a:r>
          </a:p>
          <a:p>
            <a:r>
              <a:rPr lang="en-US" dirty="0"/>
              <a:t>What more can a model learn from rich videos that go beyond simple lists of images?</a:t>
            </a:r>
          </a:p>
          <a:p>
            <a:r>
              <a:rPr lang="en-US" dirty="0"/>
              <a:t>What is wrong with the current dataset?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9D0E2B-94F1-137C-227A-E9C768EAF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164EC6-5DF2-B457-A1F6-3401F02D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FBACE6-70C4-8FC5-A91D-AFF3150A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75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Thank you for listening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914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693C8-5505-624E-FEDB-F7854FC2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F420BA-A208-CFCB-A9CA-A4D4F5817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DB2BE0-A82E-3EDA-4749-DFBA3804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6/17/2025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0C1444-4AFE-2F75-E631-FEC4944B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650DF2-50FF-010C-8F2A-FC514E1A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9D7CC8-2DB8-FA85-098E-E2F163C1D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865" y="1444773"/>
            <a:ext cx="4620270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94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10350</TotalTime>
  <Words>407</Words>
  <Application>Microsoft Office PowerPoint</Application>
  <PresentationFormat>와이드스크린</PresentationFormat>
  <Paragraphs>100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Aptos</vt:lpstr>
      <vt:lpstr>Arial</vt:lpstr>
      <vt:lpstr>Times New Roman</vt:lpstr>
      <vt:lpstr>Office 테마</vt:lpstr>
      <vt:lpstr>How Important are Videos for Training Video LLMs?</vt:lpstr>
      <vt:lpstr>Paper</vt:lpstr>
      <vt:lpstr>Problem Setting</vt:lpstr>
      <vt:lpstr>Problem Setting</vt:lpstr>
      <vt:lpstr>Baseline: LongVU</vt:lpstr>
      <vt:lpstr>Pseudo Video</vt:lpstr>
      <vt:lpstr>Pseudo Video</vt:lpstr>
      <vt:lpstr>Pseudo Video</vt:lpstr>
      <vt:lpstr>Experiments</vt:lpstr>
      <vt:lpstr>Image-only is close to Video</vt:lpstr>
      <vt:lpstr>Rich data is NOT helping much</vt:lpstr>
      <vt:lpstr>Ablation Studies</vt:lpstr>
      <vt:lpstr>Ablation Studies</vt:lpstr>
      <vt:lpstr>Ablation Studies</vt:lpstr>
      <vt:lpstr>Ablation Studies</vt:lpstr>
      <vt:lpstr>Takeaway</vt:lpstr>
      <vt:lpstr>Thank you for listening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Model &amp; Determining Trained</dc:title>
  <dc:creator>김 승환</dc:creator>
  <cp:lastModifiedBy>김승환</cp:lastModifiedBy>
  <cp:revision>612</cp:revision>
  <dcterms:created xsi:type="dcterms:W3CDTF">2023-01-19T17:39:48Z</dcterms:created>
  <dcterms:modified xsi:type="dcterms:W3CDTF">2025-06-17T06:16:33Z</dcterms:modified>
</cp:coreProperties>
</file>