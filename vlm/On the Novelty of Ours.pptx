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256" r:id="rId2"/>
    <p:sldId id="349" r:id="rId3"/>
    <p:sldId id="348" r:id="rId4"/>
    <p:sldId id="350" r:id="rId5"/>
    <p:sldId id="351" r:id="rId6"/>
    <p:sldId id="352" r:id="rId7"/>
    <p:sldId id="353" r:id="rId8"/>
    <p:sldId id="354" r:id="rId9"/>
    <p:sldId id="355" r:id="rId10"/>
    <p:sldId id="356" r:id="rId11"/>
    <p:sldId id="357" r:id="rId12"/>
    <p:sldId id="358" r:id="rId13"/>
    <p:sldId id="359" r:id="rId14"/>
    <p:sldId id="360" r:id="rId15"/>
    <p:sldId id="361" r:id="rId16"/>
    <p:sldId id="362" r:id="rId17"/>
    <p:sldId id="363" r:id="rId18"/>
    <p:sldId id="364" r:id="rId19"/>
    <p:sldId id="365" r:id="rId20"/>
    <p:sldId id="369" r:id="rId21"/>
    <p:sldId id="366" r:id="rId22"/>
    <p:sldId id="367" r:id="rId23"/>
    <p:sldId id="368" r:id="rId24"/>
    <p:sldId id="370" r:id="rId25"/>
    <p:sldId id="371" r:id="rId26"/>
    <p:sldId id="372" r:id="rId27"/>
    <p:sldId id="374" r:id="rId28"/>
    <p:sldId id="375" r:id="rId29"/>
    <p:sldId id="347" r:id="rId30"/>
    <p:sldId id="327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08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BE999-9D79-451D-AA64-C7E198F34856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EE5CA-28BF-4C09-A261-D7B8DC04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4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843D9-BBE1-666A-684E-95A5B3239B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ea typeface="210 굴림OTF 070" panose="02020503020101020101" pitchFamily="18" charset="-127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Hello World!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862590-7793-E4DC-9848-D70C57902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DB5594-B36F-550C-87AA-872D160BA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C632-7EF8-4694-B395-BC4AA4492B96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ADF123-83AF-B827-F60D-F07C3431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FD8016-B96A-EA99-8CA4-2F07CB35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49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41846-A3C4-66BE-C19B-426B1493C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ea typeface="210 굴림OTF 070" panose="02020503020101020101" pitchFamily="18" charset="-127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 err="1"/>
              <a:t>Titl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1C5572-D860-474C-3FA5-5E30E8F39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FDAD4A-25E5-4A46-10C7-7DC6F9AF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901BD3-8305-43B3-9923-257FBF170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2B44BB-CE6C-823A-1547-82331277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830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01690-CD05-4B40-37BD-737F6C4BE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424CA2-E3AC-3DB7-5EA0-BCCFBFD70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D75187-6338-EB7F-84C2-A8DFDBA5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1B1B-2377-484C-AE5F-2482D325568D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F116DC-C2D2-17FD-0670-4018A045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8D9505-77F3-973A-4A77-407A7D10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22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271688-7777-D341-8BE2-B080030C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56C86A-D334-9460-D672-B469FF474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EF012F-B037-6BC0-DCEC-41C4F997C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074B44-9A1F-1A00-7071-B7A0D8F93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201A2-46DF-4BFF-9016-C8103CEDFB81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AD2EE9-C27C-2D74-C73E-A37EEB3C0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CC3845-FA21-6B62-D010-5AFE32EA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95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1A7400-0404-7A85-2E7E-032869E17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A737AF-1D5B-C0D9-87FA-4C1B726F8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BA33EE-9A1D-AB71-3288-76B57DFA9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53D09D-7D5A-ABE8-DE38-113722A78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84B54F-E9B1-D2C4-EC9A-A7DC1D4588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8A019-7B32-D688-0429-54BDB5A9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08F3-A94B-4B80-B11C-3E927B27F2B8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1D7954-2837-A14F-9B6C-076BD5F20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B908F5-F72E-9604-D306-DD32A042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8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B1B86-EBE2-0F57-090C-C31ACA79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7053E8-F883-E4FE-AE74-EAD091EE7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3BB6-D684-4DF5-B5F0-CCFDC51A617B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C7B020-F6E2-6C53-D638-67BAA47B2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964D6A-08B3-7E5C-D2B6-F9A83DBD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14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49B6784-24C4-FD43-CC24-A65B3BF3C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2D348-75BB-4FFE-A28E-8CED510818E6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28DAE8-9990-66D8-F5E0-00F83A6E4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C4574D-AE4B-6ACA-30E6-5BEF9C38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47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096AC-8778-2324-A216-02EA2B76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06749C-BFA7-E361-D0A8-12DF99A35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BFB7CF-8E79-4D8C-1C94-05BCE7C60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CCADF7-23A1-E5F4-CC89-52E73F54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788B-E27C-4361-9F1C-F5324F7742D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E85F17-A3BF-7343-5350-697CE9FB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7DA9AE-1B19-89FA-ADAD-7F7E345E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76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6D8925-5F77-79D9-978F-933303C46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5858C2-0CBE-DB93-826B-B8F0A60A0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7916A2-7F4C-4213-A59D-9A6AC9D24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77B87D-17FA-2955-5560-AF994A738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0440-C9FD-4F99-90BA-78EFFB603E89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B5E172-8C53-896B-03D0-18189115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5A806D-5830-CB0B-19AE-8BC7CE3AD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94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5BE68-DACB-517B-3599-DEA08575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A12748-1AFA-BCD3-2832-DBC0E015E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7B65E9-6AA9-EA17-BAA6-E2879984F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9198C-CCE9-460E-AED7-4A9395234AFF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807831-DE17-1D7C-798E-71E628A6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E0FA4-F72C-A75A-3309-34C725BD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60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93F05D-9D7F-0113-A82F-B9933690AF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F68516-4C05-0C13-7E89-B7818AA4F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E97CB8-660C-2EC4-45A1-F733832E1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4432-EBCE-4AAB-A7BA-6A72C50DCDD2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BD62C1-191F-FBBB-783F-30323705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3CC41C-E7FB-5CD5-F05E-F9A0123B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13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68E3F1-AC57-A1DB-19D3-B33ADE93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BD850F-97E2-EFEC-FA26-4E7BB682D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F08438-D9C2-83FB-7F99-A83A8D6C8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36EF872-42A0-4E78-9488-31172969FC5A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7D593-7453-216C-9AD2-F38172F88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DA6965-E14F-BC2D-ED1F-9D4D0E79E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A7F9607-BA5C-406C-B8F1-9CD34989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39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F5AA7-7F5B-24D7-B71F-FC5EB4379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429" y="1122363"/>
            <a:ext cx="9289142" cy="2387600"/>
          </a:xfrm>
        </p:spPr>
        <p:txBody>
          <a:bodyPr>
            <a:normAutofit/>
          </a:bodyPr>
          <a:lstStyle/>
          <a:p>
            <a:r>
              <a:rPr lang="en-US" b="1" dirty="0"/>
              <a:t>On the Novelty of Ours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7C7B6F-3686-B164-88FE-C376C79BC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Presenter: Kim Seung Hwan (seunghwan.kim@snu.ac.kr)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7208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59DB0-2880-B40D-24D7-09CDC2B87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9061EA-F34B-B6AF-43B0-C192CC5B5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brief survey of several papers</a:t>
            </a:r>
          </a:p>
          <a:p>
            <a:r>
              <a:rPr lang="en-US" dirty="0"/>
              <a:t>Personal thoughts on our novelty</a:t>
            </a:r>
          </a:p>
          <a:p>
            <a:r>
              <a:rPr lang="en-US" dirty="0"/>
              <a:t>Experiment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76A3BE-A4B2-70DD-F61B-A1F55302A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7D654B-B853-7152-CF48-57D4BC137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5BB855-AB3A-941C-1C40-E5F4DCDE1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559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DF3FD-B284-B2D8-D4D3-1E4C8A59A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ChatVTG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2BA684-67ED-8F6B-DF15-A8CC0EA46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CA9CD4-4863-4250-0D68-346B24CB1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16E608-DFB4-A652-2846-E23CEFBA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9BE26B7-A5EB-7B7A-539A-5C45FDCC6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730" y="1985761"/>
            <a:ext cx="8516539" cy="28864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9AEC86-E0B6-08E9-7804-71E8F27FD617}"/>
              </a:ext>
            </a:extLst>
          </p:cNvPr>
          <p:cNvSpPr txBox="1"/>
          <p:nvPr/>
        </p:nvSpPr>
        <p:spPr>
          <a:xfrm>
            <a:off x="8965735" y="5155269"/>
            <a:ext cx="1337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CVPR 2024</a:t>
            </a:r>
          </a:p>
        </p:txBody>
      </p:sp>
    </p:spTree>
    <p:extLst>
      <p:ext uri="{BB962C8B-B14F-4D97-AF65-F5344CB8AC3E}">
        <p14:creationId xmlns:p14="http://schemas.microsoft.com/office/powerpoint/2010/main" val="241814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64EB3D-440E-8079-079E-B2C6A28B6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ChatVTG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45A24F-EA84-0355-F516-41BD0F7F8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Zero shot VTG</a:t>
            </a:r>
          </a:p>
          <a:p>
            <a:r>
              <a:rPr lang="en-US" dirty="0"/>
              <a:t>Split into equal-length clips (short videos) and caption them via VLM</a:t>
            </a:r>
          </a:p>
          <a:p>
            <a:r>
              <a:rPr lang="en-US" dirty="0"/>
              <a:t>Matching captions and query sentence via LLM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EAD644-5792-ED5C-DCB0-7686583D8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977A7A-B7E6-15EC-5332-D967BECFE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0AFE12-0261-B588-FC2C-4B6982B6C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82B5E7F-38E0-8E5A-EFBC-738499739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123" y="2960158"/>
            <a:ext cx="3106677" cy="335174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1D53D7E-8748-5478-0125-C0B95A333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92" y="3784986"/>
            <a:ext cx="7325747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245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5FD68-5058-B849-8ABF-E6BAE8674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229472-A6B5-A576-E65D-5B79981EA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ChatVTG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579BE0-56CB-7F7D-1219-3DF6BFA52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600140-81CE-E617-D419-0CD93FE1F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90668D-4011-5854-FEE5-BFB51F42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BD7BD6F-5798-07F0-55B3-0144245FB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433" y="1334517"/>
            <a:ext cx="10253133" cy="460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74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5CBD0-571E-E6A4-B5F8-41261EC6F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D199C44E-C50C-8738-98AC-4BC63E538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1468073"/>
            <a:ext cx="8724900" cy="39909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63B3191-568F-663A-DF8A-822BC615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TFVTG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E63F36-CF3F-AA1D-81BE-2665CA2C5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17D7B6-11CE-30B4-7658-5B600FE11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AD4F71-025A-4732-6073-0BB1ED1BF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24BA41-6D67-4F98-70D9-E85DACD59EEE}"/>
              </a:ext>
            </a:extLst>
          </p:cNvPr>
          <p:cNvSpPr txBox="1"/>
          <p:nvPr/>
        </p:nvSpPr>
        <p:spPr>
          <a:xfrm>
            <a:off x="8965735" y="5155269"/>
            <a:ext cx="1337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ECCV 2024</a:t>
            </a:r>
          </a:p>
        </p:txBody>
      </p:sp>
    </p:spTree>
    <p:extLst>
      <p:ext uri="{BB962C8B-B14F-4D97-AF65-F5344CB8AC3E}">
        <p14:creationId xmlns:p14="http://schemas.microsoft.com/office/powerpoint/2010/main" val="2910803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1C4F4A-028D-5BB8-1804-26CD834E5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TFVTG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729018-6918-A3DE-AE90-2168C588B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Zero shot, using Query-Frame similarity attained by BLIP-2</a:t>
            </a:r>
          </a:p>
          <a:p>
            <a:r>
              <a:rPr lang="en-US" dirty="0"/>
              <a:t>Sophisticated pre/post-processing</a:t>
            </a:r>
          </a:p>
          <a:p>
            <a:pPr lvl="1"/>
            <a:r>
              <a:rPr lang="en-US" dirty="0"/>
              <a:t>Query decomposition by LLM</a:t>
            </a:r>
          </a:p>
          <a:p>
            <a:pPr lvl="1"/>
            <a:r>
              <a:rPr lang="en-US" dirty="0"/>
              <a:t>Static/Dynamic part</a:t>
            </a:r>
          </a:p>
          <a:p>
            <a:pPr lvl="1"/>
            <a:r>
              <a:rPr lang="en-US" dirty="0"/>
              <a:t>Forming relation by LLM</a:t>
            </a:r>
          </a:p>
          <a:p>
            <a:r>
              <a:rPr lang="en-US" dirty="0"/>
              <a:t>Can be seen over-engineered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BA3E52-C808-99FF-A2E1-04EA3DCBB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06B180-365E-C10A-C335-F33E8AF29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CAB8FD-EA3E-25C7-6F79-135AADC5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6C8E95B-A93E-1652-9D33-41BDEC21A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133" y="2346997"/>
            <a:ext cx="5584913" cy="391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47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9661BC40-236D-BFB6-35FD-BEEE07AA3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166" y="1092200"/>
            <a:ext cx="7043667" cy="514553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EE74322-3E57-6DCA-326D-EEEDD067A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TFVTG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A665DB-04B0-78EA-3EE7-F52840B4B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9EC23F-1F90-B1E2-FD82-0A9DABF65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5440C4-032C-E4BA-6C8A-E957DDC2E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3D1BCF-D8F9-01BE-00A0-D95CB6DF030A}"/>
              </a:ext>
            </a:extLst>
          </p:cNvPr>
          <p:cNvSpPr txBox="1"/>
          <p:nvPr/>
        </p:nvSpPr>
        <p:spPr>
          <a:xfrm>
            <a:off x="2068749" y="5502599"/>
            <a:ext cx="1337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SOTA</a:t>
            </a:r>
          </a:p>
        </p:txBody>
      </p:sp>
    </p:spTree>
    <p:extLst>
      <p:ext uri="{BB962C8B-B14F-4D97-AF65-F5344CB8AC3E}">
        <p14:creationId xmlns:p14="http://schemas.microsoft.com/office/powerpoint/2010/main" val="3571335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87BD5-2C59-1C1E-423A-A810DD576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8F3245-3785-F5B6-6691-3349CDA2C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Moment-GPT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F64850-CD5B-18D7-842F-75AA67043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496AB5-10F3-32C7-D6F5-FF4F0A0E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0E957C-0CA2-9855-D187-C5042E07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7C01F2-1FF5-44D0-49FA-F1B9735D2965}"/>
              </a:ext>
            </a:extLst>
          </p:cNvPr>
          <p:cNvSpPr txBox="1"/>
          <p:nvPr/>
        </p:nvSpPr>
        <p:spPr>
          <a:xfrm>
            <a:off x="8965735" y="5155269"/>
            <a:ext cx="1337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AAAI 2025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53EBED9-0806-B8BE-2F14-5B03F818C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" y="1938129"/>
            <a:ext cx="12155596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130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23A790-EFC3-0748-DFE7-E2837699F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Moment-GPT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4BCD38-EA5C-CA99-3BCB-CA29C848E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Zero shot, multi agent</a:t>
            </a:r>
          </a:p>
          <a:p>
            <a:r>
              <a:rPr lang="en-US" dirty="0"/>
              <a:t>Generate frame caption by Mini-GPTv2</a:t>
            </a:r>
          </a:p>
          <a:p>
            <a:r>
              <a:rPr lang="en-US" dirty="0"/>
              <a:t>Generate debiased query by LLaMA-3</a:t>
            </a:r>
          </a:p>
          <a:p>
            <a:r>
              <a:rPr lang="en-US" dirty="0"/>
              <a:t>Span Generator is an algorithm (not NN)</a:t>
            </a:r>
          </a:p>
          <a:p>
            <a:r>
              <a:rPr lang="en-US" dirty="0"/>
              <a:t>Generate clip caption by Video-ChatGPT</a:t>
            </a:r>
          </a:p>
          <a:p>
            <a:r>
              <a:rPr lang="en-US" dirty="0"/>
              <a:t>Span Scorer is simply caption-caption</a:t>
            </a:r>
            <a:br>
              <a:rPr lang="en-US" dirty="0"/>
            </a:br>
            <a:r>
              <a:rPr lang="en-US" dirty="0"/>
              <a:t>matching by LLaMA-3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93B012-0C36-ACA6-15B5-D97D62AA2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CCF2F4-8EBC-6F2A-839B-3E39EF315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CBF431-B2A0-9FBC-205F-9AD208233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8F77487-18F6-C976-2314-31A3AC7DE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192" y="770731"/>
            <a:ext cx="5119808" cy="549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140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2D162D-5BC4-D245-6888-576317CA9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Moment-GPT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798E74-0515-CDC7-70BD-379237961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FE0A7D-A177-B82D-DD1B-797C092E6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AA83B5-3DC6-F15D-3037-8CD913B1E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6A4CF30-7270-5214-8753-F4B9314A4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966" y="1573446"/>
            <a:ext cx="9762067" cy="478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279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03D66-F104-B088-27FC-C9330FA70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Moment-GPT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2A13F4-54BF-EC38-A057-217444590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5A2638-F292-8625-7065-276241F2A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EBB689-377D-B973-1602-1BFD4EBBE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2FABFB7-0E64-3BF9-412B-6FA633EA7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819602"/>
            <a:ext cx="10642600" cy="41438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9C50F6-E3E5-BA44-F1D4-F59B63FE008F}"/>
              </a:ext>
            </a:extLst>
          </p:cNvPr>
          <p:cNvSpPr txBox="1"/>
          <p:nvPr/>
        </p:nvSpPr>
        <p:spPr>
          <a:xfrm>
            <a:off x="7958667" y="5710019"/>
            <a:ext cx="4047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 bad,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Considering the use of a lot of models</a:t>
            </a:r>
          </a:p>
        </p:txBody>
      </p:sp>
    </p:spTree>
    <p:extLst>
      <p:ext uri="{BB962C8B-B14F-4D97-AF65-F5344CB8AC3E}">
        <p14:creationId xmlns:p14="http://schemas.microsoft.com/office/powerpoint/2010/main" val="675646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C90CB-DF8C-9C6A-9C56-4608E312A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511BE5-977B-2382-4423-D09347609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019D54-048A-D138-5254-2A2F651D6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1FB51-06FF-8F04-5A96-DCEE898AA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646BBB-4813-B621-D71A-50792455A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FF5668A-3A7A-EABF-8A9D-EEF4FBCE5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4007"/>
            <a:ext cx="12192000" cy="29099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2B0C56-ACD7-DAAD-CED3-D48891E33634}"/>
              </a:ext>
            </a:extLst>
          </p:cNvPr>
          <p:cNvSpPr txBox="1"/>
          <p:nvPr/>
        </p:nvSpPr>
        <p:spPr>
          <a:xfrm>
            <a:off x="8906467" y="5167312"/>
            <a:ext cx="1676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paper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it’s 2508</a:t>
            </a:r>
          </a:p>
        </p:txBody>
      </p:sp>
    </p:spTree>
    <p:extLst>
      <p:ext uri="{BB962C8B-B14F-4D97-AF65-F5344CB8AC3E}">
        <p14:creationId xmlns:p14="http://schemas.microsoft.com/office/powerpoint/2010/main" val="3782461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2801F8-352F-8D7D-C176-9A21D6705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04CCC-2CB0-01E0-6414-B7589A28C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Zero shot, using frame-wise feature from BLIP-2</a:t>
            </a:r>
          </a:p>
          <a:p>
            <a:r>
              <a:rPr lang="en-US" dirty="0"/>
              <a:t>Explicit temporal pooling</a:t>
            </a:r>
          </a:p>
          <a:p>
            <a:r>
              <a:rPr lang="en-US" dirty="0"/>
              <a:t>Engineered post-processing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6A474F-0198-93EC-40F2-81F2FD2D8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D4CF3-BE2B-901C-B357-70369EB8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E863EB-078F-53A2-EA48-D52525CCB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ED70340-CE1A-5FE9-9F77-6C06DB55E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677" y="3005665"/>
            <a:ext cx="6497655" cy="342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83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CB4CAD-1E33-DCDA-A174-75B6F7FFA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</a:t>
            </a:r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F490290-D7A1-596D-60AB-FB18F4B73E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9653" y="1311316"/>
            <a:ext cx="7372694" cy="4823313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28A684-8521-F068-D0E6-9961A466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32B7EA-B744-9CEB-E1E7-8848592A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172B1D-0C50-74DB-4A08-F5D6CB2D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171236-9409-1077-BF28-73F88DCAA180}"/>
              </a:ext>
            </a:extLst>
          </p:cNvPr>
          <p:cNvSpPr txBox="1"/>
          <p:nvPr/>
        </p:nvSpPr>
        <p:spPr>
          <a:xfrm>
            <a:off x="1611549" y="5485666"/>
            <a:ext cx="1337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SOTA</a:t>
            </a:r>
          </a:p>
        </p:txBody>
      </p:sp>
    </p:spTree>
    <p:extLst>
      <p:ext uri="{BB962C8B-B14F-4D97-AF65-F5344CB8AC3E}">
        <p14:creationId xmlns:p14="http://schemas.microsoft.com/office/powerpoint/2010/main" val="2180903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518152-9FD3-A8BB-4C48-F93C0E7F4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TimeSearch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078809-8941-49CC-5313-6FD343F36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2E6F27-C896-4C17-57C1-E98093E4E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5DB957-BDFE-A472-F83B-09527536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69E2704-2569-010C-00A6-E0F3764D5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4" y="1895261"/>
            <a:ext cx="11907912" cy="3067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0FFE59-6813-1193-A961-1B926FF235BD}"/>
              </a:ext>
            </a:extLst>
          </p:cNvPr>
          <p:cNvSpPr txBox="1"/>
          <p:nvPr/>
        </p:nvSpPr>
        <p:spPr>
          <a:xfrm>
            <a:off x="8073656" y="5167312"/>
            <a:ext cx="2821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paper (2502)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industry (ByteDance)</a:t>
            </a:r>
          </a:p>
        </p:txBody>
      </p:sp>
    </p:spTree>
    <p:extLst>
      <p:ext uri="{BB962C8B-B14F-4D97-AF65-F5344CB8AC3E}">
        <p14:creationId xmlns:p14="http://schemas.microsoft.com/office/powerpoint/2010/main" val="1328787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30F7CA1B-95CB-3DBC-45B8-B7BED5C2C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600" y="3468303"/>
            <a:ext cx="3585598" cy="276792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22AE1B1-2D9F-F23C-0770-5D7CFECDB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TimeSearch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AB7E60-4D13-BFE8-7343-0F46B0428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long video, requires training</a:t>
            </a:r>
          </a:p>
          <a:p>
            <a:r>
              <a:rPr lang="en-US" dirty="0"/>
              <a:t>Splitting a video into clips reduces cognitive overhead, e.g., tokens</a:t>
            </a:r>
          </a:p>
          <a:p>
            <a:r>
              <a:rPr lang="en-US" dirty="0"/>
              <a:t>Clip scoring, and exploring spans greedily and recursively</a:t>
            </a:r>
          </a:p>
          <a:p>
            <a:r>
              <a:rPr lang="en-US" dirty="0"/>
              <a:t>Very similar to ours, but it explicitly separates</a:t>
            </a:r>
            <a:br>
              <a:rPr lang="en-US" dirty="0"/>
            </a:br>
            <a:r>
              <a:rPr lang="en-US" dirty="0"/>
              <a:t>span extraction from confidence prediction</a:t>
            </a:r>
          </a:p>
          <a:p>
            <a:r>
              <a:rPr lang="en-US" dirty="0"/>
              <a:t>It uses an alternative timestamp encoding,</a:t>
            </a:r>
            <a:br>
              <a:rPr lang="en-US" dirty="0"/>
            </a:br>
            <a:r>
              <a:rPr lang="en-US" dirty="0"/>
              <a:t>requiring training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7B6DBD-53D3-A4FC-9D03-65E52A3C5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E56A12-5BF7-45BC-D7C3-571A88401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432C8C-34DF-E952-9120-E8052E171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2028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9DF3C-FC50-BA43-FFF7-C7686E693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TimeSearch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549957-A99D-F5A8-6452-3A9D1C9F0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DA1E1D-2A8E-28A2-B90B-74ACF3F6E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FE35C-D608-D29A-ACF8-01304ED3F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A26F3D2-42F0-97A4-9535-1A9F8DB85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66" y="1812699"/>
            <a:ext cx="10447867" cy="40023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FBB2F7-A75F-8C67-0E9F-449E622BEEAB}"/>
              </a:ext>
            </a:extLst>
          </p:cNvPr>
          <p:cNvSpPr txBox="1"/>
          <p:nvPr/>
        </p:nvSpPr>
        <p:spPr>
          <a:xfrm>
            <a:off x="0" y="5367133"/>
            <a:ext cx="1337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SOTA</a:t>
            </a:r>
          </a:p>
        </p:txBody>
      </p:sp>
    </p:spTree>
    <p:extLst>
      <p:ext uri="{BB962C8B-B14F-4D97-AF65-F5344CB8AC3E}">
        <p14:creationId xmlns:p14="http://schemas.microsoft.com/office/powerpoint/2010/main" val="3667178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03D3F1-6F8E-C549-400B-5754A14EE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Long Video </a:t>
            </a:r>
            <a:r>
              <a:rPr lang="en-US" dirty="0" err="1"/>
              <a:t>Approachs</a:t>
            </a:r>
            <a:r>
              <a:rPr lang="en-US" dirty="0"/>
              <a:t>…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DE4153-1073-2881-439C-F63F6F335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CoS</a:t>
            </a:r>
            <a:endParaRPr lang="en-US" dirty="0"/>
          </a:p>
          <a:p>
            <a:r>
              <a:rPr lang="en-US" dirty="0" err="1"/>
              <a:t>ReVisionLLM</a:t>
            </a:r>
            <a:endParaRPr lang="en-US" dirty="0"/>
          </a:p>
          <a:p>
            <a:r>
              <a:rPr lang="en-US" dirty="0" err="1"/>
              <a:t>EventFormer</a:t>
            </a:r>
            <a:endParaRPr lang="en-US" dirty="0"/>
          </a:p>
          <a:p>
            <a:r>
              <a:rPr lang="en-US" dirty="0"/>
              <a:t>And more…</a:t>
            </a:r>
          </a:p>
          <a:p>
            <a:endParaRPr lang="en-US" dirty="0"/>
          </a:p>
          <a:p>
            <a:r>
              <a:rPr lang="en-US" dirty="0"/>
              <a:t>Whether a uniform length or a semantic unit,</a:t>
            </a:r>
            <a:br>
              <a:rPr lang="en-US" dirty="0"/>
            </a:br>
            <a:r>
              <a:rPr lang="en-US" dirty="0" err="1"/>
              <a:t>spliting</a:t>
            </a:r>
            <a:r>
              <a:rPr lang="en-US" dirty="0"/>
              <a:t> it into clips is very common in long video tasks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FD7D12-A80E-F003-4CE6-6B6C545F8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992718-7F17-4F67-D185-32E302AB7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6238AF-6FA5-93E5-A401-138470EDA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821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33D73B-8115-FAE9-C247-C1E9FCBC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Novelty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B62ECD-0C01-EFBF-354E-C7D382835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65D0BA-B4A7-0187-F8DA-E0E99B9A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9D3B01-E5AD-A8F9-C374-BC2915F4A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1E61DE1-5221-5506-86DF-166A1EE4F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863" y="1508669"/>
            <a:ext cx="6444274" cy="47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78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C2C3F-7EE5-94A2-1529-9EA24C87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Novelty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B5766C-03FE-C24A-6BF9-38BAEE851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could not find any study similar to our concept, using clip score for short video VTG</a:t>
            </a:r>
          </a:p>
          <a:p>
            <a:r>
              <a:rPr lang="en-US" dirty="0"/>
              <a:t>Is cost an issue? Probably not</a:t>
            </a:r>
          </a:p>
          <a:p>
            <a:r>
              <a:rPr lang="en-US" dirty="0"/>
              <a:t>There have been many expensive methods</a:t>
            </a:r>
          </a:p>
          <a:p>
            <a:r>
              <a:rPr lang="en-US" dirty="0"/>
              <a:t>Also, our backbone cannot resolve VTG task with an entire video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72A7DF-A3A2-EA34-B4D0-B84EA8359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5DD531-34F6-3819-3DAA-C65EB9ACE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C38A5A-9FBB-7AB5-F728-F4FF9972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F158D23-419A-4E17-26D4-BF60E3904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443" y="4552554"/>
            <a:ext cx="5287113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772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D602D-4E2E-8A4C-8898-D2AB34075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Novelty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66CBF9-56D2-9B19-71C1-1B13B5EB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714"/>
            <a:ext cx="10515600" cy="4351338"/>
          </a:xfrm>
        </p:spPr>
        <p:txBody>
          <a:bodyPr/>
          <a:lstStyle/>
          <a:p>
            <a:r>
              <a:rPr lang="en-US" dirty="0"/>
              <a:t>Scoring frames is very common in VTG task</a:t>
            </a:r>
          </a:p>
          <a:p>
            <a:r>
              <a:rPr lang="en-US" dirty="0"/>
              <a:t>Developing this to scoring clips seems like a natural approach,</a:t>
            </a:r>
            <a:br>
              <a:rPr lang="en-US" dirty="0"/>
            </a:br>
            <a:r>
              <a:rPr lang="en-US" dirty="0"/>
              <a:t>so we are sure there are already been some prior works on this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05934-3F65-D127-05E6-AA02C24C1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2214EA-E551-B7B7-FA83-8B2F3A986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F5054B-B0E4-682F-14FD-26141B8C4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567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1510A-1F05-DA5E-3165-90555FB07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02D617-8306-ED7E-6FBB-AFA457ACD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Novelty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3AE484-64A6-085D-89B7-EA5604E08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I found that our method was more geared towards niche tasks than natural ones</a:t>
            </a:r>
          </a:p>
          <a:p>
            <a:endParaRPr lang="en-US" dirty="0"/>
          </a:p>
          <a:p>
            <a:r>
              <a:rPr lang="en-US" dirty="0"/>
              <a:t>In short video VTG, one can insert the entire video</a:t>
            </a:r>
          </a:p>
          <a:p>
            <a:r>
              <a:rPr lang="en-US" dirty="0" err="1"/>
              <a:t>e.g</a:t>
            </a:r>
            <a:r>
              <a:rPr lang="en-US" dirty="0"/>
              <a:t>, </a:t>
            </a:r>
            <a:r>
              <a:rPr lang="en-US" dirty="0" err="1"/>
              <a:t>NumPro</a:t>
            </a:r>
            <a:r>
              <a:rPr lang="en-US" dirty="0"/>
              <a:t>, we focused on, simply uses Charades-STA with 2 FPS</a:t>
            </a:r>
          </a:p>
          <a:p>
            <a:r>
              <a:rPr lang="en-US" dirty="0"/>
              <a:t>On the other hand, when training is allowed, studies focus on temporal understanding, using the entire video</a:t>
            </a:r>
          </a:p>
          <a:p>
            <a:r>
              <a:rPr lang="en-US" dirty="0"/>
              <a:t>On the one hand, in long video VTG, the use of clips is very common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924C3E-8788-3F8B-F3AC-F08B85224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E81B27-C5E5-179C-65C2-10A03EB8E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E9CDA8-2254-A9E7-9DB2-B09E7192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127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F8FF1-8E69-B070-EB90-DE28F040E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Novelty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092B8A-EE7F-D1F3-4363-E47C752EB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target, zero-shot short video VTG, can be seen as lying somewhere in between</a:t>
            </a:r>
          </a:p>
          <a:p>
            <a:r>
              <a:rPr lang="en-US" dirty="0"/>
              <a:t>In terms of cost, one can use the entire video</a:t>
            </a:r>
          </a:p>
          <a:p>
            <a:r>
              <a:rPr lang="en-US" dirty="0"/>
              <a:t>However, semantically, it is similar to long video case, the model struggles to understand timestamp values or temporal order</a:t>
            </a:r>
          </a:p>
          <a:p>
            <a:r>
              <a:rPr lang="en-US" dirty="0"/>
              <a:t>Of course, video VLM understands actions better than CLIP or BLIP!</a:t>
            </a:r>
          </a:p>
          <a:p>
            <a:r>
              <a:rPr lang="en-US" dirty="0"/>
              <a:t>Our method exploits this subtlety well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F759C7-2FFD-7D80-260E-CC70B8681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742FD6-184A-741E-B972-273BB7E8F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81E649-E3AE-7962-AFB5-FC7D0B6C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597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DFE8A-2A56-3059-006E-82E4F6CCF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Novelty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7D194B-CA39-CF08-B878-CDB795114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short, our method is, perhaps, the first zero-shot short video VTG</a:t>
            </a:r>
            <a:br>
              <a:rPr lang="en-US" dirty="0"/>
            </a:br>
            <a:r>
              <a:rPr lang="en-US" dirty="0"/>
              <a:t>evaluated by VLM on clip-wise</a:t>
            </a:r>
          </a:p>
          <a:p>
            <a:r>
              <a:rPr lang="en-US" dirty="0"/>
              <a:t>I suspect this natural approach is not used for the following reasons:</a:t>
            </a:r>
          </a:p>
          <a:p>
            <a:pPr lvl="1"/>
            <a:r>
              <a:rPr lang="en-US" dirty="0"/>
              <a:t>In short video VTG, video VLMs typically utilized the entire video</a:t>
            </a:r>
          </a:p>
          <a:p>
            <a:pPr lvl="1"/>
            <a:r>
              <a:rPr lang="en-US" dirty="0"/>
              <a:t>Only in long video VTG, splitting into clips is common</a:t>
            </a:r>
          </a:p>
          <a:p>
            <a:pPr lvl="1"/>
            <a:r>
              <a:rPr lang="en-US" dirty="0"/>
              <a:t>Zero-shot VTG is a tricky position between the two</a:t>
            </a:r>
          </a:p>
          <a:p>
            <a:pPr lvl="1"/>
            <a:r>
              <a:rPr lang="en-US" dirty="0"/>
              <a:t>Zero-shot video VLMs, while unaware of timestamp values, are far superior to CLIP or BLIP similarity in action understanding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0CAE51-F956-2688-48DD-A27B80808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2427BC-66F6-7637-D486-F2999D462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DC310E-500E-196F-3FEB-60935EBEB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809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E06DCF-BF98-B680-643B-6E07757D9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Novelty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CAFECB-38CE-6247-1249-85D708894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Therefore, if the method remains the same, I think the following motivation and analysis experiments can enhance the novelty:</a:t>
            </a:r>
          </a:p>
          <a:p>
            <a:pPr lvl="1"/>
            <a:r>
              <a:rPr lang="en-US" dirty="0"/>
              <a:t>Since it is zero-shot, it makes sense to clip-wise inference even in short video task, which was only used in long video task</a:t>
            </a:r>
          </a:p>
          <a:p>
            <a:pPr lvl="1"/>
            <a:r>
              <a:rPr lang="en-US" dirty="0"/>
              <a:t>Zero-shot video VLMs are very good at action detection, though they do not know timestamp</a:t>
            </a:r>
          </a:p>
          <a:p>
            <a:pPr lvl="2"/>
            <a:r>
              <a:rPr lang="en-US" dirty="0"/>
              <a:t>e.g., we can test whether the model consistently scores well on clips containing some GT</a:t>
            </a:r>
          </a:p>
          <a:p>
            <a:pPr lvl="1"/>
            <a:r>
              <a:rPr lang="en-US" dirty="0"/>
              <a:t>There may be certain query types where our method is superior to prior frame-wise works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443EBA-C1F5-4D5E-83DB-A63A5FBA2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D3ACF0-50F8-D4E1-D9C8-BE7F0CD8A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018B28-7912-BB06-A22A-03DF55505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2512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D0E335-32A1-0C17-F122-5E81F08AD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BB2452-4A4E-933A-C014-DA40AEF80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method divides each video into 10 clips, which is very sparse</a:t>
            </a:r>
          </a:p>
          <a:p>
            <a:r>
              <a:rPr lang="en-US" dirty="0"/>
              <a:t>What would the result be if we inference it denser?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DE5183-8B0F-A04B-7BB3-2272B54D4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DBB1E4-0CCF-CB50-1E1B-FE5A99F3D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25AD4A-8AA4-971B-BB3E-E46F9061B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607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F112-EE6C-16ED-AD03-B7AD02CB4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165668-DBDC-A13E-6C36-6FFAE3853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49DFDA-2D24-5C42-10B5-E6242D3F1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method divides each video into 10 clips, which is very sparse</a:t>
            </a:r>
          </a:p>
          <a:p>
            <a:r>
              <a:rPr lang="en-US" dirty="0"/>
              <a:t>What would the result be if we inference it denser?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342513-BEA4-05E5-950D-ED6035D0E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653978-3D41-6F14-08AD-B4FE09DBF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438872-32CE-7A0E-BAB2-810D78C49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5913751-46C2-2F2A-035C-8F40D3967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521" y="3035637"/>
            <a:ext cx="6858957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6758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내용 개체 틀 16">
            <a:extLst>
              <a:ext uri="{FF2B5EF4-FFF2-40B4-BE49-F238E27FC236}">
                <a16:creationId xmlns:a16="http://schemas.microsoft.com/office/drawing/2014/main" id="{3F610264-4E88-D354-04AD-FD43B158C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expected, R@0.7 improves</a:t>
            </a:r>
          </a:p>
          <a:p>
            <a:r>
              <a:rPr lang="en-US" dirty="0"/>
              <a:t>However, R@0.5 decreases, likely due to noise</a:t>
            </a:r>
          </a:p>
          <a:p>
            <a:r>
              <a:rPr lang="en-US" dirty="0"/>
              <a:t>In any case, the interpolation version performs the best</a:t>
            </a:r>
          </a:p>
          <a:p>
            <a:r>
              <a:rPr lang="en-US" dirty="0"/>
              <a:t>While it would be helpful to conduct an ablation study for the writing,</a:t>
            </a:r>
            <a:br>
              <a:rPr lang="en-US" dirty="0"/>
            </a:br>
            <a:r>
              <a:rPr lang="en-US" dirty="0"/>
              <a:t>the method does not appear to require significant changes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F6167A0-F90B-6455-A489-A563353BD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12A101-8228-CE33-C48F-B9AF3BF97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10/1/2025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B51541-C8A2-B6A8-B929-392B4B0B6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0E589D-3116-2DDB-940A-738CB7A28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29</a:t>
            </a:fld>
            <a:endParaRPr lang="ko-KR" altLang="en-US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59966CD8-BDFD-C5BC-8A90-B0A1430A3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044451"/>
              </p:ext>
            </p:extLst>
          </p:nvPr>
        </p:nvGraphicFramePr>
        <p:xfrm>
          <a:off x="2032000" y="4514057"/>
          <a:ext cx="8128000" cy="17526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9449813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3837479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7465766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44522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R@0.3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R@0.5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R@0.7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459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973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Sparse 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63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Sparse with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0.3116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944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4923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F5AA7-7F5B-24D7-B71F-FC5EB4379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Thank you for listening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7C7B6F-3686-B164-88FE-C376C79BC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Presenter: Kim Seung Hwan (seunghwan.kim@snu.ac.kr)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4914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10613</TotalTime>
  <Words>920</Words>
  <Application>Microsoft Office PowerPoint</Application>
  <PresentationFormat>와이드스크린</PresentationFormat>
  <Paragraphs>212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맑은 고딕</vt:lpstr>
      <vt:lpstr>Aptos</vt:lpstr>
      <vt:lpstr>Arial</vt:lpstr>
      <vt:lpstr>Times New Roman</vt:lpstr>
      <vt:lpstr>Office 테마</vt:lpstr>
      <vt:lpstr>On the Novelty of Ours</vt:lpstr>
      <vt:lpstr>Contents</vt:lpstr>
      <vt:lpstr>ChatVTG</vt:lpstr>
      <vt:lpstr>ChatVTG</vt:lpstr>
      <vt:lpstr>ChatVTG</vt:lpstr>
      <vt:lpstr>TFVTG</vt:lpstr>
      <vt:lpstr>TFVTG</vt:lpstr>
      <vt:lpstr>TFVTG</vt:lpstr>
      <vt:lpstr>Moment-GPT</vt:lpstr>
      <vt:lpstr>Moment-GPT</vt:lpstr>
      <vt:lpstr>Moment-GPT</vt:lpstr>
      <vt:lpstr>Moment-GPT</vt:lpstr>
      <vt:lpstr>TAG</vt:lpstr>
      <vt:lpstr>TAG</vt:lpstr>
      <vt:lpstr>TAG</vt:lpstr>
      <vt:lpstr>TimeSearch</vt:lpstr>
      <vt:lpstr>TimeSearch</vt:lpstr>
      <vt:lpstr>TimeSearch</vt:lpstr>
      <vt:lpstr>Other Long Video Approachs…</vt:lpstr>
      <vt:lpstr>Novelty</vt:lpstr>
      <vt:lpstr>Novelty</vt:lpstr>
      <vt:lpstr>Novelty</vt:lpstr>
      <vt:lpstr>Novelty</vt:lpstr>
      <vt:lpstr>Novelty</vt:lpstr>
      <vt:lpstr>Novelty</vt:lpstr>
      <vt:lpstr>Novelty</vt:lpstr>
      <vt:lpstr>Experiment</vt:lpstr>
      <vt:lpstr>Experiment</vt:lpstr>
      <vt:lpstr>Experiment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Diffusion Model &amp; Determining Trained</dc:title>
  <dc:creator>김 승환</dc:creator>
  <cp:lastModifiedBy>김승환</cp:lastModifiedBy>
  <cp:revision>642</cp:revision>
  <dcterms:created xsi:type="dcterms:W3CDTF">2023-01-19T17:39:48Z</dcterms:created>
  <dcterms:modified xsi:type="dcterms:W3CDTF">2025-09-30T23:58:35Z</dcterms:modified>
</cp:coreProperties>
</file>