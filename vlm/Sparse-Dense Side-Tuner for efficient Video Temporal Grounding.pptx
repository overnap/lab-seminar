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328" r:id="rId3"/>
    <p:sldId id="347" r:id="rId4"/>
    <p:sldId id="381" r:id="rId5"/>
    <p:sldId id="361" r:id="rId6"/>
    <p:sldId id="382" r:id="rId7"/>
    <p:sldId id="348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327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/>
              <a:t>Sparse-Dense Side-Tuner for efficient</a:t>
            </a:r>
            <a:br>
              <a:rPr lang="en-US" sz="4400" b="1" dirty="0"/>
            </a:br>
            <a:r>
              <a:rPr lang="en-US" sz="4400" b="1" dirty="0"/>
              <a:t>Video Temporal Grounding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38005-DB0F-0C19-1B25-DF2237A1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0B2D6-CFB5-8C80-B6E9-C80230CB5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ICCV ’25</a:t>
            </a:r>
          </a:p>
          <a:p>
            <a:r>
              <a:rPr lang="en-US" dirty="0"/>
              <a:t>The details are very sophisticated, but the main concept is simple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165DB-AB15-921C-7AE1-D3E77922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50577-B2A1-46A2-AF02-CB9AFBA5B938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92160-3D32-3464-F227-BF2C2D7F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F7703-AD2B-4CDD-91E3-B5BAF33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A877A9-E6F2-6751-7DE7-23EBBDF7C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8036"/>
            <a:ext cx="10515601" cy="237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1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DFC2-82D4-B337-8C0D-2D2561D6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BC502-4110-40CA-A069-8AFB2FA2D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55592-B394-F548-2C1E-0DEAE23FA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VTG is the combined task</a:t>
            </a:r>
          </a:p>
          <a:p>
            <a:r>
              <a:rPr lang="en-US" dirty="0"/>
              <a:t>It involves Moment Retrieval (MR), Highlight Detection (HD)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0D259E-3382-1112-C65F-A6F4653E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5D2EF-65A8-6998-AB6F-19D1AEE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154CF-D9B6-9C0C-08DC-9529F100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13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5AE5-4AFF-39AF-8614-578FDC83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6087F-CCC7-EED9-0DF8-19561350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6B4E3-EB70-CB74-2806-98D911DF3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task is quite difficult, so people often utilize strong backbones</a:t>
            </a:r>
          </a:p>
          <a:p>
            <a:r>
              <a:rPr lang="en-US" dirty="0"/>
              <a:t>But full fine-tuning a powerful backbone (CLIP, LLM, etc.) is impractical!</a:t>
            </a:r>
          </a:p>
          <a:p>
            <a:r>
              <a:rPr lang="en-US" dirty="0"/>
              <a:t>We need MEFT (Side-tuning) beyond PEFT (Prompting, LORA, etc.) to avoid full backpropagation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6B9CB-ECE3-CF05-21A8-658C80E4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66119-B7BF-51E5-5100-8BF41E06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DF8EE-F901-152E-0E6E-7EC40856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061A05-EE73-083B-CE15-011551D1E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91" y="4180821"/>
            <a:ext cx="5325218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5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889A-7022-A25A-DCDE-9043639B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733E-F050-BEB4-56DD-F632D764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3D9A6-DF11-672A-5056-572E11DF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 first anchor-free ST architecture for multitask VTG</a:t>
            </a:r>
          </a:p>
          <a:p>
            <a:r>
              <a:rPr lang="en-US" dirty="0"/>
              <a:t>Proposed method surpasses SOTA while reducing p.c. by up to 73%</a:t>
            </a:r>
          </a:p>
          <a:p>
            <a:r>
              <a:rPr lang="en-US" dirty="0"/>
              <a:t>Overall improvement of DETR-based VTG model</a:t>
            </a:r>
          </a:p>
          <a:p>
            <a:r>
              <a:rPr lang="en-US" dirty="0"/>
              <a:t>Propose a method to extract intermediate features of the video backbone for side-tuning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F94B62-7388-54AB-292B-22A87501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F9766-F5EC-45F7-9B0C-B4149CE6D4DD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DFD1B4-8BDD-10F7-5454-B1EB68F1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7A310-A2D8-C1CE-51FF-DD7662F3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2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28357-AF5E-B80D-0D12-14519D41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DETR? Anchor-free?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23EB2D-3695-09F0-6321-5B197D93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8600D4-2C6E-B799-028D-51077B96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320D0E-28B3-6F19-47D6-566F5A65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1026" name="Picture 2" descr="코드리뷰] DETR : End-to-End Object Detection with Transformers">
            <a:extLst>
              <a:ext uri="{FF2B5EF4-FFF2-40B4-BE49-F238E27FC236}">
                <a16:creationId xmlns:a16="http://schemas.microsoft.com/office/drawing/2014/main" id="{10D867C7-EBF4-6F42-2E72-B49D3643A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429" y="1646238"/>
            <a:ext cx="6971771" cy="446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10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6F363-8FD1-FBDE-B4C3-03A8D5BA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A902878-D649-29C8-71FC-D6D1F94D2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Input-query pair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Frame-wise saliency score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for HD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action moments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dirty="0"/>
                  <a:t> for MR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A902878-D649-29C8-71FC-D6D1F94D2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8AC51-CE5A-E977-1B0B-3B0E673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B19368-B9AC-7CC4-FB56-5D4ACE2F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665D-687E-7CBC-BD4D-645A709C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3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2AB9D-E701-896D-8EF5-7747691A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16E96F-B179-AF3A-FA7B-656330DE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973A43-A58A-1FEE-94BC-6E1C9986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5C814-ED5D-036E-983B-35FFEC2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529DDB-5DE0-8FE8-97ED-0EC8F3BFB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33" y="1690688"/>
            <a:ext cx="10303933" cy="44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97E8C-223D-D391-FC94-EAD55C52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CA8362-7A4D-A755-C836-FF50A0AF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6B25F-66AF-9662-D540-A4C23D37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8222B-7DD6-0574-72AE-3650FFA7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4ED214-6439-8BEC-9A33-191F1044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21" y="1752599"/>
            <a:ext cx="4649533" cy="45140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F3C4FA8-3786-26FF-B1EE-EA45502D1C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442" b="34586"/>
          <a:stretch>
            <a:fillRect/>
          </a:stretch>
        </p:blipFill>
        <p:spPr>
          <a:xfrm>
            <a:off x="5359421" y="2469621"/>
            <a:ext cx="6548967" cy="288977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A5525B-50E8-0018-DC84-A94349A67ACD}"/>
              </a:ext>
            </a:extLst>
          </p:cNvPr>
          <p:cNvSpPr/>
          <p:nvPr/>
        </p:nvSpPr>
        <p:spPr>
          <a:xfrm>
            <a:off x="6062329" y="2634511"/>
            <a:ext cx="2443717" cy="2150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293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C3AD-6917-4981-FBAC-7CBDEF1B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10660-4EEC-3C5E-0801-7AD0FF53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C6D2A-CB40-4E96-6828-107ADDCC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57F91-EEC3-59E3-E8C7-3F7A4A94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E08BF-AF04-CF28-F64B-53ECA37A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99585B-E6FE-7C75-7AC2-DFBB6377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442" b="34586"/>
          <a:stretch>
            <a:fillRect/>
          </a:stretch>
        </p:blipFill>
        <p:spPr>
          <a:xfrm>
            <a:off x="5359421" y="2469621"/>
            <a:ext cx="6548967" cy="288977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083D04-4D47-368A-D7E5-596DB32B4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40" y="1921933"/>
            <a:ext cx="4865890" cy="43666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DBA0FCD-D874-7A78-794C-AD4B2E5E570B}"/>
              </a:ext>
            </a:extLst>
          </p:cNvPr>
          <p:cNvSpPr/>
          <p:nvPr/>
        </p:nvSpPr>
        <p:spPr>
          <a:xfrm>
            <a:off x="9195391" y="2839439"/>
            <a:ext cx="1515140" cy="216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6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D88D-FE15-E3F0-91BE-EF850FF2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EEBA7-113E-A736-DD5D-D71BFA28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CEABC-646A-7973-E283-638D48C8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CC237-70DB-017A-E8C0-6A43C475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74CE4-2808-EE48-C2D4-C281E155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077DD8-A287-D0B9-280A-FF51E5B61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442" b="34586"/>
          <a:stretch>
            <a:fillRect/>
          </a:stretch>
        </p:blipFill>
        <p:spPr>
          <a:xfrm>
            <a:off x="5359421" y="2469621"/>
            <a:ext cx="6548967" cy="28897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67670CC-8195-95A0-CECC-03ADF562AF0D}"/>
              </a:ext>
            </a:extLst>
          </p:cNvPr>
          <p:cNvSpPr/>
          <p:nvPr/>
        </p:nvSpPr>
        <p:spPr>
          <a:xfrm>
            <a:off x="10216117" y="2839439"/>
            <a:ext cx="1515140" cy="216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D471DC-9B15-DE74-98AD-D2B2FF6DB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0" y="2523460"/>
            <a:ext cx="5025231" cy="302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08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CE9E-09CD-53A2-0431-B3848A96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DFC52-C4B3-FBF1-FCE3-2F34F6C6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6D30A1-6673-E605-2C6B-69A0E45A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EDA89-D847-4C98-6B87-0878566B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5BF5B8-EF5D-D27A-9067-9383CA32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7B19041-4441-48E8-6E44-ED5F5B4C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442" b="34586"/>
          <a:stretch>
            <a:fillRect/>
          </a:stretch>
        </p:blipFill>
        <p:spPr>
          <a:xfrm>
            <a:off x="5359421" y="2469621"/>
            <a:ext cx="6548967" cy="28897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7EDBB2C-67EB-773E-D39C-09393EE7F134}"/>
              </a:ext>
            </a:extLst>
          </p:cNvPr>
          <p:cNvSpPr/>
          <p:nvPr/>
        </p:nvSpPr>
        <p:spPr>
          <a:xfrm>
            <a:off x="10216117" y="2839439"/>
            <a:ext cx="1515140" cy="216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A2B9CA-14EB-226F-881B-B9B672C36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43" y="2835921"/>
            <a:ext cx="4795777" cy="237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7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2D880-8CCD-0113-1F42-F4710B66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Deformable Attention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886D9-213F-F9C5-E38B-648F2ED7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20F31-9C2B-3037-968C-6E9351CC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0B160-08C0-9F1C-A73C-78AE7261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2050" name="Picture 2" descr="논문 읽기] Deformable DETR(2020), Deformable Transformers for End-to-End Object  Detection">
            <a:extLst>
              <a:ext uri="{FF2B5EF4-FFF2-40B4-BE49-F238E27FC236}">
                <a16:creationId xmlns:a16="http://schemas.microsoft.com/office/drawing/2014/main" id="{935A7DB2-1086-BA23-05EA-08CC36322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51" y="1920728"/>
            <a:ext cx="528637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A0B5EF5-DE7A-B55B-34CF-4AED984DC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226" y="2015978"/>
            <a:ext cx="6162675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81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019C8-F59E-169C-D6D4-231A1193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Deformable Attention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08990-0635-BADA-35CC-A4857A67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works very well for self-attention</a:t>
            </a:r>
          </a:p>
          <a:p>
            <a:r>
              <a:rPr lang="en-US" dirty="0"/>
              <a:t>This is also used for cross-attention in existing works,</a:t>
            </a:r>
          </a:p>
          <a:p>
            <a:r>
              <a:rPr lang="en-US" dirty="0"/>
              <a:t>But it is incorrect!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3A7E76-D610-A6EF-40CD-2899E7AB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35367-A5BE-6FA8-9BFD-2403A2C0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55355-D473-69CC-FBA6-C450F3C94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B9C797A-7BDC-405E-0C9D-3BF9D0B59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379" y="4184753"/>
            <a:ext cx="3658111" cy="504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583F094-2E60-7B6B-66A0-5380F8592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641" y="4779342"/>
            <a:ext cx="5010849" cy="1295581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6998D371-CEE7-DDF8-9EB2-6C3AF3933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4" y="3555182"/>
            <a:ext cx="4318000" cy="2642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40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1CBA-8B8D-C795-7772-674961FC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413F7-12DA-4534-F350-27173365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Deformable Attention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3369C4-37D2-9598-3EBD-2A9FB0220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offset collapse near the initialization values</a:t>
            </a:r>
          </a:p>
          <a:p>
            <a:r>
              <a:rPr lang="en-US" dirty="0"/>
              <a:t>Inability to select keys beyond the estimated boundary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9F5A4-D750-CB72-A0A0-7BD2B086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96B3AE-1E54-CF58-263A-2AC0EC54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38EC61-80DC-ACD5-BFA2-703B49ED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4F0826-8ABF-4AF2-E091-604A4BB89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32" y="3071380"/>
            <a:ext cx="598253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6A03-A9B4-029C-11D9-5C6DDC73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09DF5-A834-5953-64FA-F7C417BB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425130-158D-0354-ABA4-689C44A4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FE37B-ED0A-81A4-8753-6A46B8AE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60B57E-E7CF-BCE3-EEED-9778DEAB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ED69972-0184-0BFC-A0D0-052F188C0D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442" b="34586"/>
          <a:stretch>
            <a:fillRect/>
          </a:stretch>
        </p:blipFill>
        <p:spPr>
          <a:xfrm>
            <a:off x="5359421" y="2469621"/>
            <a:ext cx="6548967" cy="28897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AE4D914-CF53-1F6B-E9A1-792D76237A54}"/>
              </a:ext>
            </a:extLst>
          </p:cNvPr>
          <p:cNvSpPr/>
          <p:nvPr/>
        </p:nvSpPr>
        <p:spPr>
          <a:xfrm>
            <a:off x="10216117" y="2839439"/>
            <a:ext cx="1515140" cy="2164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2BB92F-F70D-E952-ED8B-918F9F838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43" y="2511318"/>
            <a:ext cx="4643901" cy="334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38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024E-C5FB-BDBB-864C-8FD2E135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B4D91-D08D-E3E6-BD51-F8C3374DD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CA5078-CB62-7BCD-856D-9A0C943B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6EC8D5-7D3E-E948-C780-5D8F3450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576F37-71EF-4256-C41D-59920BD2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E877F7-019F-9657-8AA2-C87EC5342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43" y="2418184"/>
            <a:ext cx="4643901" cy="33465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547728-8D58-C7D8-4F8D-33D71B1B0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724" y="1770451"/>
            <a:ext cx="5684076" cy="40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54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2DC3EC-BD96-45A9-8925-01C737B93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6F64D7-7626-90A4-6D18-E2085CCF6D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intermediate features into shared weight SDST</a:t>
                </a:r>
              </a:p>
              <a:p>
                <a:r>
                  <a:rPr lang="en-US" dirty="0"/>
                  <a:t>Use a huge number of objectives function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6F64D7-7626-90A4-6D18-E2085CCF6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7E791-6B2C-00BC-90FE-660853D53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1CCDB-EC7B-74ED-8462-50D65E79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F99A5-5A4B-BDA6-D01D-878742EF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BAB8DF-14DE-0059-7176-541D31B25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495" y="3483704"/>
            <a:ext cx="5973009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1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EEAC-DC8F-BA84-BD05-68B18921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A577B-3C96-8DB3-6D31-D85BE1B8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DA8D8C-004C-FCDF-94AA-9E443AC22F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intermediate features into shared weight SDST</a:t>
                </a:r>
              </a:p>
              <a:p>
                <a:r>
                  <a:rPr lang="en-US" dirty="0"/>
                  <a:t>Use a huge number of objectives function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DA8D8C-004C-FCDF-94AA-9E443AC22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7C95C-49BA-74E0-9225-7F1CED3F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93A9F-5974-3F4A-F53D-DE9FAB6F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04CAF-C6B9-E8FA-3789-262A3572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9028B5-7932-1AB1-D6B1-5B9D1A0B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689" y="2875165"/>
            <a:ext cx="4824621" cy="339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02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26F6B-AA73-11DD-318D-AD720015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809F3-C0B0-F92B-193A-6B0D1607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C81CA54-2736-7A7D-9AC6-A5B4FDB077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intermediate features into shared weight SDST</a:t>
                </a:r>
              </a:p>
              <a:p>
                <a:r>
                  <a:rPr lang="en-US" dirty="0"/>
                  <a:t>Use a huge number of objectives function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C81CA54-2736-7A7D-9AC6-A5B4FDB077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A90FE-67A0-CC5C-16BA-54E36226F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E04DE5-4C83-BCA8-A290-F0DF43C3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294AB7-0076-3D41-82D2-AF53DCDA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BF3D0F-643B-C4AD-5F56-540B6CCB0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969" y="2963731"/>
            <a:ext cx="5992061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55A2E-0C86-7F8C-8A07-CA9080EB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Intermediate Features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A7BC2-5F5E-6C1D-8ABF-8AA8C02A1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just taking the last tokens, using intermediate features, which has a lot of information</a:t>
            </a:r>
          </a:p>
          <a:p>
            <a:r>
              <a:rPr lang="en-US" dirty="0"/>
              <a:t>Pooling is needed to reduce the dimensionality</a:t>
            </a:r>
          </a:p>
          <a:p>
            <a:r>
              <a:rPr lang="en-US" dirty="0"/>
              <a:t>Adaptive pooling is great, but it is too expensive to train on each layer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0587-ECBC-6C04-AAC5-BF2EFC46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BEDC2-FE9A-F84E-09B5-37D6F1E8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3187CB-A7C9-80C2-2D12-22D7BA61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6CEB49-7056-4DE0-2129-ADEF00B90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601" y="3854858"/>
            <a:ext cx="5172797" cy="6096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806DD0E-D41D-FD71-6ECF-AAC6CDEDD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28" y="4643930"/>
            <a:ext cx="4917542" cy="130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43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3DA53-5543-414D-C89C-0EDD504B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8DFB72-67EC-06C2-53ED-1E5767E8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226E3-1B81-DEED-B653-DF4E7F68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BD1C1-9068-CA0C-CECC-1FC8B4A5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3D8228-1BCA-DED4-3CCB-03BC395EF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66" y="1422835"/>
            <a:ext cx="9203267" cy="471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45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D39F-F636-F30D-C103-8D73C637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AC37FA-ED78-C9C6-84DC-7BE07017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51DA9-2E5C-5A87-740B-FEF7D0DFB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9EDED-5329-6ADF-033C-12952933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F30E77-9B82-D6DD-B2BA-7D041AFE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D4ADAD-7F9D-BD6D-4F90-DEADF99A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95" y="1978826"/>
            <a:ext cx="5405685" cy="36555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8DEAE9-5F58-79E9-29FE-9DCF22D6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522" y="1978826"/>
            <a:ext cx="5199585" cy="372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89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2968-9A2E-DD61-4916-55F27869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58F9A-F4BE-8F48-E1B9-4CED58A6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152C4B-66CA-2E30-6BE7-91BA1A80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834D74-A745-B963-AB75-769DD033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91097-4588-4DB5-CB81-7EC72F3E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EEB8936-02FA-B121-4DDE-D9A07F2B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1454042"/>
            <a:ext cx="6344535" cy="26292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945BB0B-3B2F-6B03-9F28-62DB60DF1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036" y="4324826"/>
            <a:ext cx="5125928" cy="17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6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D45B-5AD0-906E-D49D-E7140A369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97D19-43F0-C76F-264A-B2C731845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95BEFF-D0CD-4938-AC9B-7A1FD874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80E9B1-7BEF-83E2-DDC6-C79C7E19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F7910-157A-A8B9-7D0B-5E3B43CF4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9CB896-C2D2-D1E3-A4E6-AC32C395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62" y="2756293"/>
            <a:ext cx="5351548" cy="18364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21BBFD9-7F24-5E0A-60FB-A56EBFE48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91" y="2195117"/>
            <a:ext cx="5319611" cy="27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59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385EC-660C-3A8B-D333-3F5D3CF9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9CB9E-31E7-F510-CBBB-53811911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75CC3-722A-F8F5-8DCC-B7CD2D9F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B0757-CD02-03A7-E89D-24E770A1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CDC37-0F70-363B-8D5A-66CE50E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C6C043-3D04-6F66-9D51-4CD3F42B4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11" y="1491065"/>
            <a:ext cx="6106377" cy="1810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351A34-7C23-0296-1086-512E00594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27" y="3278915"/>
            <a:ext cx="605874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4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B5E29-8006-DA58-F530-1A61E852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DC416-8C09-5614-D88F-7E9EEC613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use only one RTX 6000 (48GB </a:t>
            </a:r>
            <a:r>
              <a:rPr lang="en-US" dirty="0" err="1"/>
              <a:t>vram</a:t>
            </a:r>
            <a:r>
              <a:rPr lang="en-US" dirty="0"/>
              <a:t>)</a:t>
            </a:r>
          </a:p>
          <a:p>
            <a:r>
              <a:rPr lang="en-US" dirty="0"/>
              <a:t>Full FT like </a:t>
            </a:r>
            <a:r>
              <a:rPr lang="en-US" dirty="0" err="1"/>
              <a:t>LoRA</a:t>
            </a:r>
            <a:r>
              <a:rPr lang="en-US" dirty="0"/>
              <a:t> or Adapter does not even work on the GPU</a:t>
            </a:r>
          </a:p>
          <a:p>
            <a:endParaRPr lang="en-US" dirty="0"/>
          </a:p>
          <a:p>
            <a:r>
              <a:rPr lang="en-US" dirty="0"/>
              <a:t>Shared weight is better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1B284-6538-B9D3-53EC-985E15B2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8DCF3-7970-E86D-30FC-12CBC0FA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79FFE6-84F0-CB61-C7DD-CB7150F2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F87847-85E5-0559-9631-065D67CF2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345" y="3910917"/>
            <a:ext cx="6297310" cy="226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83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66B96-1555-1C01-4A48-4F2EA94A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C8818-B8D2-F96C-4E37-53E1227ED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sophisticated approach to VTG</a:t>
            </a:r>
          </a:p>
          <a:p>
            <a:r>
              <a:rPr lang="en-US" dirty="0"/>
              <a:t>How can we minimize learning, in particular, without backpropagation though LLM?</a:t>
            </a:r>
          </a:p>
          <a:p>
            <a:r>
              <a:rPr lang="en-US" dirty="0"/>
              <a:t>Frozen adaptive sampling is clearly suboptimal, but it is efficient, making it a plausible approach</a:t>
            </a:r>
          </a:p>
          <a:p>
            <a:r>
              <a:rPr lang="en-US" dirty="0"/>
              <a:t>The backbone is just used as a black box, and the main contribution of the paper lies in microarchitecture tuning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84C92-3D58-F95B-A690-D4E83770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7/29/2025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F782-BC2D-CC34-85AE-87DEB18E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9F602-3D68-94CA-03F6-F95E11F0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22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10478</TotalTime>
  <Words>517</Words>
  <Application>Microsoft Office PowerPoint</Application>
  <PresentationFormat>와이드스크린</PresentationFormat>
  <Paragraphs>148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Aptos</vt:lpstr>
      <vt:lpstr>Arial</vt:lpstr>
      <vt:lpstr>Cambria Math</vt:lpstr>
      <vt:lpstr>Times New Roman</vt:lpstr>
      <vt:lpstr>Office 테마</vt:lpstr>
      <vt:lpstr>Sparse-Dense Side-Tuner for efficient Video Temporal Grounding</vt:lpstr>
      <vt:lpstr>Paper</vt:lpstr>
      <vt:lpstr>Problem Setting</vt:lpstr>
      <vt:lpstr>Problem Setting</vt:lpstr>
      <vt:lpstr>Contributions</vt:lpstr>
      <vt:lpstr>DETR? Anchor-free?</vt:lpstr>
      <vt:lpstr>Definition</vt:lpstr>
      <vt:lpstr>Method</vt:lpstr>
      <vt:lpstr>Method</vt:lpstr>
      <vt:lpstr>Method</vt:lpstr>
      <vt:lpstr>Method</vt:lpstr>
      <vt:lpstr>Method</vt:lpstr>
      <vt:lpstr>Deformable Attention</vt:lpstr>
      <vt:lpstr>Deformable Attention</vt:lpstr>
      <vt:lpstr>Deformable Attention</vt:lpstr>
      <vt:lpstr>Method</vt:lpstr>
      <vt:lpstr>Method</vt:lpstr>
      <vt:lpstr>Objectives</vt:lpstr>
      <vt:lpstr>Objectives</vt:lpstr>
      <vt:lpstr>Objectives</vt:lpstr>
      <vt:lpstr>Extracting Intermediate Features</vt:lpstr>
      <vt:lpstr>Results</vt:lpstr>
      <vt:lpstr>Results</vt:lpstr>
      <vt:lpstr>Ablations</vt:lpstr>
      <vt:lpstr>Ablations</vt:lpstr>
      <vt:lpstr>Ablations</vt:lpstr>
      <vt:lpstr>Appendix</vt:lpstr>
      <vt:lpstr>Takeaway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697</cp:revision>
  <dcterms:created xsi:type="dcterms:W3CDTF">2023-01-19T17:39:48Z</dcterms:created>
  <dcterms:modified xsi:type="dcterms:W3CDTF">2025-07-29T05:59:44Z</dcterms:modified>
</cp:coreProperties>
</file>