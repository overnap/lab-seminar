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328" r:id="rId3"/>
    <p:sldId id="329" r:id="rId4"/>
    <p:sldId id="330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9" r:id="rId13"/>
    <p:sldId id="338" r:id="rId14"/>
    <p:sldId id="340" r:id="rId15"/>
    <p:sldId id="341" r:id="rId16"/>
    <p:sldId id="342" r:id="rId17"/>
    <p:sldId id="327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2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3BE999-9D79-451D-AA64-C7E198F3485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EE5CA-28BF-4C09-A261-D7B8DC04D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64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843D9-BBE1-666A-684E-95A5B3239B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ea typeface="210 굴림OTF 070" panose="02020503020101020101" pitchFamily="18" charset="-127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Hello World!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862590-7793-E4DC-9848-D70C57902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DB5594-B36F-550C-87AA-872D160BA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C632-7EF8-4694-B395-BC4AA4492B96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ADF123-83AF-B827-F60D-F07C3431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FD8016-B96A-EA99-8CA4-2F07CB35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49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641846-A3C4-66BE-C19B-426B1493C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ea typeface="210 굴림OTF 070" panose="02020503020101020101" pitchFamily="18" charset="-127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 err="1"/>
              <a:t>Titl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1C5572-D860-474C-3FA5-5E30E8F39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FDAD4A-25E5-4A46-10C7-7DC6F9AF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901BD3-8305-43B3-9923-257FBF170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2B44BB-CE6C-823A-1547-82331277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830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01690-CD05-4B40-37BD-737F6C4BE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424CA2-E3AC-3DB7-5EA0-BCCFBFD70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D75187-6338-EB7F-84C2-A8DFDBA5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41B1B-2377-484C-AE5F-2482D325568D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F116DC-C2D2-17FD-0670-4018A045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8D9505-77F3-973A-4A77-407A7D101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223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271688-7777-D341-8BE2-B080030C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56C86A-D334-9460-D672-B469FF474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EF012F-B037-6BC0-DCEC-41C4F997C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074B44-9A1F-1A00-7071-B7A0D8F93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201A2-46DF-4BFF-9016-C8103CEDFB81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AD2EE9-C27C-2D74-C73E-A37EEB3C0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CC3845-FA21-6B62-D010-5AFE32EA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955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1A7400-0404-7A85-2E7E-032869E17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A737AF-1D5B-C0D9-87FA-4C1B726F8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BA33EE-9A1D-AB71-3288-76B57DFA9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53D09D-7D5A-ABE8-DE38-113722A78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84B54F-E9B1-D2C4-EC9A-A7DC1D4588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8A019-7B32-D688-0429-54BDB5A9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608F3-A94B-4B80-B11C-3E927B27F2B8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1D7954-2837-A14F-9B6C-076BD5F20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B908F5-F72E-9604-D306-DD32A042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83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6B1B86-EBE2-0F57-090C-C31ACA793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7053E8-F883-E4FE-AE74-EAD091EE7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3BB6-D684-4DF5-B5F0-CCFDC51A617B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C7B020-F6E2-6C53-D638-67BAA47B2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964D6A-08B3-7E5C-D2B6-F9A83DBD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14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49B6784-24C4-FD43-CC24-A65B3BF3C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2D348-75BB-4FFE-A28E-8CED510818E6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228DAE8-9990-66D8-F5E0-00F83A6E4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C4574D-AE4B-6ACA-30E6-5BEF9C38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47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096AC-8778-2324-A216-02EA2B76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06749C-BFA7-E361-D0A8-12DF99A35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BFB7CF-8E79-4D8C-1C94-05BCE7C60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CCADF7-23A1-E5F4-CC89-52E73F542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788B-E27C-4361-9F1C-F5324F7742D7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E85F17-A3BF-7343-5350-697CE9FB2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7DA9AE-1B19-89FA-ADAD-7F7E345E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76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6D8925-5F77-79D9-978F-933303C46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5858C2-0CBE-DB93-826B-B8F0A60A0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7916A2-7F4C-4213-A59D-9A6AC9D24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77B87D-17FA-2955-5560-AF994A738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0440-C9FD-4F99-90BA-78EFFB603E89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B5E172-8C53-896B-03D0-18189115F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5A806D-5830-CB0B-19AE-8BC7CE3AD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941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B5BE68-DACB-517B-3599-DEA08575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A12748-1AFA-BCD3-2832-DBC0E015E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7B65E9-6AA9-EA17-BAA6-E2879984F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9198C-CCE9-460E-AED7-4A9395234AFF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807831-DE17-1D7C-798E-71E628A65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E0FA4-F72C-A75A-3309-34C725BD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60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93F05D-9D7F-0113-A82F-B9933690AF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F68516-4C05-0C13-7E89-B7818AA4F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E97CB8-660C-2EC4-45A1-F733832E1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F4432-EBCE-4AAB-A7BA-6A72C50DCDD2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BD62C1-191F-FBBB-783F-30323705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3CC41C-E7FB-5CD5-F05E-F9A0123B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13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68E3F1-AC57-A1DB-19D3-B33ADE93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BD850F-97E2-EFEC-FA26-4E7BB682D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F08438-D9C2-83FB-7F99-A83A8D6C8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36EF872-42A0-4E78-9488-31172969FC5A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37D593-7453-216C-9AD2-F38172F88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DA6965-E14F-BC2D-ED1F-9D4D0E79E8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A7F9607-BA5C-406C-B8F1-9CD3498981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394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F5AA7-7F5B-24D7-B71F-FC5EB4379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1429" y="1122363"/>
            <a:ext cx="9289142" cy="2387600"/>
          </a:xfrm>
        </p:spPr>
        <p:txBody>
          <a:bodyPr>
            <a:normAutofit/>
          </a:bodyPr>
          <a:lstStyle/>
          <a:p>
            <a:r>
              <a:rPr lang="en-US" sz="4400" b="1" dirty="0"/>
              <a:t>Eyes Wide Shut? Exploring the Visual Shortcomings of Multimodal LLMs</a:t>
            </a:r>
            <a:endParaRPr lang="ko-KR" altLang="en-US" sz="44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7C7B6F-3686-B164-88FE-C376C79BC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Presenter: Kim Seung Hwan (seunghwan.kim@snu.ac.kr)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7208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E15193-5D51-E616-0CD6-F64F80DDD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6B4ADD-0230-7809-D548-91C0DD004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79A397-71A6-51B6-E647-23B12BCC7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B8A5B8-090D-3A33-755B-A0D89638A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734" y="453598"/>
            <a:ext cx="6722532" cy="561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860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4CF7A9-BC7A-910B-A833-38C982352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F161F6-157A-54D9-41BE-F2B8403E8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Strong VLMs (e.g. GPT-4V, Gemini) excel at complex reasoning but fail at perceiving elementary visual feature</a:t>
            </a:r>
          </a:p>
          <a:p>
            <a:r>
              <a:rPr lang="en-US" dirty="0"/>
              <a:t>Do these shortcomings from (1) vision encoder, or (2) LLM?</a:t>
            </a:r>
          </a:p>
          <a:p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2C737-F61B-5E48-BB4E-EA54BAE8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5F5A7C-5C8C-6CB5-B9F1-C321FFFE3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596BA7-091C-F1EA-288E-19583B8DF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5159788-93B2-618F-BDFE-A194BEAE8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280" y="3332406"/>
            <a:ext cx="2638640" cy="332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55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710DDB-24AE-25DB-3EC7-EE587E31D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D307BE-4332-0B32-2F35-51E8B1C2B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Answer: vision encoder</a:t>
            </a:r>
          </a:p>
          <a:p>
            <a:r>
              <a:rPr lang="en-US" dirty="0"/>
              <a:t>The CLIP base vision encoder itself</a:t>
            </a:r>
            <a:br>
              <a:rPr lang="en-US" dirty="0"/>
            </a:br>
            <a:r>
              <a:rPr lang="en-US" dirty="0"/>
              <a:t>that many models use is not very good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7A7E7B-7327-C3BF-E2F9-19424773F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8FA54B-99DA-4D8C-06C8-EEA225DF3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E227CD-8BF5-280B-F0CB-CF2442312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4603238-C6A6-9413-4B11-990A4FBBD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040" y="1870075"/>
            <a:ext cx="3976505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864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E4E1A-F7EC-E188-E4BA-737CDAAB4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725C79-2E46-A13A-4AD2-D1E6F19A8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0EA1A7-4BA8-2F3B-8BF1-333077CDF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61A30D-A674-E1FA-0D0C-40E85310F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8C3388B-CA26-8636-FD8E-E687DC7C1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933" y="1584453"/>
            <a:ext cx="9110133" cy="462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606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26AD7-99AB-FE39-3EA0-60AEA4F33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E68049-DDDE-03C5-85EC-044AD6E36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Finding CLIP-Blind Pairs</a:t>
            </a:r>
          </a:p>
          <a:p>
            <a:r>
              <a:rPr lang="en-US" dirty="0"/>
              <a:t>Using DINOv2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2F01C6-5E4F-84AE-5CAE-C77455AA0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8484AF-2A51-3F87-AD0F-6344153EF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631CFA-8284-2BDE-EAC2-5767FB6FB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6EA1F50-FF85-2D20-A382-2A924B25CD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7286" b="22405"/>
          <a:stretch>
            <a:fillRect/>
          </a:stretch>
        </p:blipFill>
        <p:spPr>
          <a:xfrm>
            <a:off x="7696199" y="1690688"/>
            <a:ext cx="3547534" cy="427489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E04C6F2-88B3-87A8-38DB-2BB7AB4F2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466" y="3044151"/>
            <a:ext cx="5471880" cy="303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03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701FE-07EE-109C-6A18-2B80941F7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E5FFFC-B583-BA67-1A86-B593EEE4E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Designing 150 pairs with 300 questions</a:t>
            </a:r>
          </a:p>
          <a:p>
            <a:r>
              <a:rPr lang="en-US" dirty="0"/>
              <a:t>By human annotator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E75A2D-D7D0-17A5-8BF4-8D4012BF8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E79BAC-4730-6466-930E-87AEBF19D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59050F-FCBC-D5F1-C611-92EEACF03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321A83B-7D84-A974-25E4-F66B986F54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922" r="31505" b="25640"/>
          <a:stretch>
            <a:fillRect/>
          </a:stretch>
        </p:blipFill>
        <p:spPr>
          <a:xfrm>
            <a:off x="7730069" y="1646238"/>
            <a:ext cx="3809998" cy="416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45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68B004-A6F2-BA6A-2FE5-F31E613CD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BE4A0C-BC36-5D10-FAED-CEFC54D56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Assess with:</a:t>
            </a:r>
          </a:p>
          <a:p>
            <a:pPr lvl="1"/>
            <a:r>
              <a:rPr lang="en-US" dirty="0"/>
              <a:t>LLaVA-1.5</a:t>
            </a:r>
          </a:p>
          <a:p>
            <a:pPr lvl="1"/>
            <a:r>
              <a:rPr lang="en-US" dirty="0" err="1"/>
              <a:t>InstructBLIP</a:t>
            </a:r>
            <a:endParaRPr lang="en-US" dirty="0"/>
          </a:p>
          <a:p>
            <a:pPr lvl="1"/>
            <a:r>
              <a:rPr lang="en-US" dirty="0"/>
              <a:t>Mini-GPT4</a:t>
            </a:r>
          </a:p>
          <a:p>
            <a:pPr lvl="1"/>
            <a:r>
              <a:rPr lang="en-US" u="sng" dirty="0"/>
              <a:t>GPT-4V</a:t>
            </a:r>
          </a:p>
          <a:p>
            <a:pPr lvl="1"/>
            <a:r>
              <a:rPr lang="en-US" u="sng" dirty="0"/>
              <a:t>Gemini</a:t>
            </a:r>
          </a:p>
          <a:p>
            <a:pPr lvl="1"/>
            <a:r>
              <a:rPr lang="en-US" u="sng" dirty="0"/>
              <a:t>Bard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9838B2-7947-98E9-D64B-CC5D10467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8ED23D-A1AC-9433-896A-A360D7FE7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C02C53-98C3-77D5-E918-235B9EA33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5EAD611-1368-1AF4-CC11-A8BAB3646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322" y="1771650"/>
            <a:ext cx="402250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696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55CCEC-80A1-B233-FBCE-2EE18EA81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1C1129-4224-AD71-EAF8-2EDB86C78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Human confirms questions are straightforward</a:t>
            </a:r>
          </a:p>
          <a:p>
            <a:r>
              <a:rPr lang="en-US" dirty="0"/>
              <a:t>But SOTA VLMs fail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D37D00-A5BB-CBE7-D504-D8A322CFC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DCABE6-2FE3-D3D6-B798-9394C2D8D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569C72-C234-1DCD-0D99-BB1BCFBDE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163DA08-3135-3B34-9DC2-67186C25D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825" y="2197100"/>
            <a:ext cx="444297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137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BCC077-B466-B174-4544-3314A0461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49B651-A35F-8274-079E-C16F31C3A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C4223D-5821-E224-D334-A1C53A7DC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891026-8168-8EDA-A715-55F372AB4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88513D0-6018-396E-670D-6CB6D63B2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66" y="1865997"/>
            <a:ext cx="10346267" cy="417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884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A1D6C-203B-E2F0-EE89-2B293CA6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8692E6-4170-CF42-8181-80900CBC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854978-96B2-0345-306F-F8959A1D0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90D11C-3BE3-679A-3723-D68B1E66C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233ECFF-A95E-6718-3D1E-F0D662D05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234" y="1690688"/>
            <a:ext cx="10151532" cy="4511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134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819414-0699-85C8-A181-F2B53191E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AAAA9-B1BB-B99C-0A6F-9C7DA8CF1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Its failure is inherited by VLM!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346B83-AED9-37E5-FBB8-1038DA77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6565CF-36EA-286B-564C-354C23F51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B5188A-3B42-9512-4CBD-A2EC755BF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7DEA310-72CD-228B-7227-83E4C4AF9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17" y="2835349"/>
            <a:ext cx="5273576" cy="343130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906D1F6-D4E1-D060-35A6-3157D3E0B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561" y="4246275"/>
            <a:ext cx="5359460" cy="187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659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1E3D31-5DE8-E623-5E54-20183B01B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146788-2E1B-25BF-589A-571CDDD26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proposed very basic solution: just use DINOv2’s features too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24736C-30AE-1D5C-2108-F16C4D1BB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A78719-99DF-F739-86AC-35ED66C55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D6FB69-9BA5-F14D-6E19-556E3B84C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559DCC-C67C-0B30-28FC-44D7CE63E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93827"/>
            <a:ext cx="10515600" cy="397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90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3462C-D66A-B5B6-D0B3-FB67243C5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62797C-D53A-9519-24D2-65E7241BD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Additive MoF shows trade-off</a:t>
            </a:r>
          </a:p>
          <a:p>
            <a:r>
              <a:rPr lang="en-US" dirty="0"/>
              <a:t>Visual detail vs. Instruction following</a:t>
            </a:r>
          </a:p>
          <a:p>
            <a:r>
              <a:rPr lang="en-US" dirty="0"/>
              <a:t>Interleaved MoF exhibits consistent results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2BAA94-9A9A-F9DB-6E52-E7350B373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F26163-5D2E-106A-61BE-FAF0C1A15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D08ACF-DD39-BAF6-DA78-A5E00EA7C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19BED65-D98A-4A56-935B-60E6CC1E0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130" y="3377332"/>
            <a:ext cx="4480470" cy="279963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B680866-F941-F15D-1851-675DFA2F3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714" y="3572933"/>
            <a:ext cx="5709457" cy="253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110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5496BD-383C-A93F-0CD7-33F66A4DA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1D392D-632E-45C0-7618-10B1107F3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well-written paper with a natural flow</a:t>
            </a:r>
          </a:p>
          <a:p>
            <a:r>
              <a:rPr lang="en-US" dirty="0"/>
              <a:t>Focus on concept proof and analysis rather than complex method</a:t>
            </a:r>
          </a:p>
          <a:p>
            <a:r>
              <a:rPr lang="en-US" dirty="0"/>
              <a:t>Root: domain shift from CLIP's original pre-training task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8CAD47-3FF4-E688-91A3-637C0C683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B5E71F-983E-163B-B967-9B3B07F7F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462455-4277-95AD-80A0-79DB38072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7308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D794E-0133-FECA-7D9F-958D91BEA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Plus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DF155B-56FF-7D4D-B434-1C412333E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limitations of the uncertainty paper?</a:t>
            </a:r>
          </a:p>
          <a:p>
            <a:pPr lvl="1"/>
            <a:r>
              <a:rPr lang="en-US" dirty="0"/>
              <a:t>Inefficient</a:t>
            </a:r>
          </a:p>
          <a:p>
            <a:pPr lvl="1"/>
            <a:r>
              <a:rPr lang="en-US" dirty="0"/>
              <a:t>Still anchor-based</a:t>
            </a:r>
          </a:p>
          <a:p>
            <a:pPr lvl="1"/>
            <a:r>
              <a:rPr lang="en-US" dirty="0"/>
              <a:t>Postprocessing is overly simplistic</a:t>
            </a:r>
          </a:p>
          <a:p>
            <a:pPr lvl="1"/>
            <a:endParaRPr lang="en-US" dirty="0"/>
          </a:p>
          <a:p>
            <a:r>
              <a:rPr lang="en-US" dirty="0"/>
              <a:t>How can we solve it in continuous time?</a:t>
            </a:r>
          </a:p>
          <a:p>
            <a:r>
              <a:rPr lang="en-US" dirty="0"/>
              <a:t>Is there a more optimal question format?</a:t>
            </a:r>
          </a:p>
          <a:p>
            <a:r>
              <a:rPr lang="en-US" dirty="0"/>
              <a:t>What we're using isn't a simple logit, it's a probability</a:t>
            </a:r>
          </a:p>
          <a:p>
            <a:pPr lvl="1"/>
            <a:r>
              <a:rPr lang="en-US" dirty="0"/>
              <a:t>Can we exploit it further?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E2ECEB-9A29-67F0-BCFD-23DE31D61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11/19/2025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CE526D-FA3B-8A23-5346-4397B23B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47CB53-E7FE-C6EE-00BB-F7EFE1E53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082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F5AA7-7F5B-24D7-B71F-FC5EB4379F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Thank you for listening</a:t>
            </a:r>
            <a:endParaRPr lang="ko-KR" altLang="en-US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7C7B6F-3686-B164-88FE-C376C79BC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Presenter: Kim Seung Hwan (seunghwan.kim@snu.ac.kr)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4914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10720</TotalTime>
  <Words>304</Words>
  <Application>Microsoft Office PowerPoint</Application>
  <PresentationFormat>와이드스크린</PresentationFormat>
  <Paragraphs>97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맑은 고딕</vt:lpstr>
      <vt:lpstr>Aptos</vt:lpstr>
      <vt:lpstr>Arial</vt:lpstr>
      <vt:lpstr>Times New Roman</vt:lpstr>
      <vt:lpstr>Office 테마</vt:lpstr>
      <vt:lpstr>Eyes Wide Shut? Exploring the Visual Shortcomings of Multimodal LLMs</vt:lpstr>
      <vt:lpstr>PowerPoint 프레젠테이션</vt:lpstr>
      <vt:lpstr>Problem</vt:lpstr>
      <vt:lpstr>Problem</vt:lpstr>
      <vt:lpstr>Benchmark</vt:lpstr>
      <vt:lpstr>Benchmark</vt:lpstr>
      <vt:lpstr>Benchmark</vt:lpstr>
      <vt:lpstr>Benchmark</vt:lpstr>
      <vt:lpstr>Benchmark</vt:lpstr>
      <vt:lpstr>Benchmark</vt:lpstr>
      <vt:lpstr>Benchmark</vt:lpstr>
      <vt:lpstr>Benchmark</vt:lpstr>
      <vt:lpstr>Method</vt:lpstr>
      <vt:lpstr>Method</vt:lpstr>
      <vt:lpstr>Takeaway</vt:lpstr>
      <vt:lpstr>Plus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Diffusion Model &amp; Determining Trained</dc:title>
  <dc:creator>김 승환</dc:creator>
  <cp:lastModifiedBy>김승환</cp:lastModifiedBy>
  <cp:revision>659</cp:revision>
  <dcterms:created xsi:type="dcterms:W3CDTF">2023-01-19T17:39:48Z</dcterms:created>
  <dcterms:modified xsi:type="dcterms:W3CDTF">2025-11-18T23:10:13Z</dcterms:modified>
</cp:coreProperties>
</file>