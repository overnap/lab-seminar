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8"/>
  </p:notesMasterIdLst>
  <p:sldIdLst>
    <p:sldId id="256" r:id="rId2"/>
    <p:sldId id="328" r:id="rId3"/>
    <p:sldId id="329" r:id="rId4"/>
    <p:sldId id="344" r:id="rId5"/>
    <p:sldId id="343" r:id="rId6"/>
    <p:sldId id="345" r:id="rId7"/>
    <p:sldId id="346" r:id="rId8"/>
    <p:sldId id="347" r:id="rId9"/>
    <p:sldId id="349" r:id="rId10"/>
    <p:sldId id="348" r:id="rId11"/>
    <p:sldId id="350" r:id="rId12"/>
    <p:sldId id="351" r:id="rId13"/>
    <p:sldId id="327" r:id="rId14"/>
    <p:sldId id="352" r:id="rId15"/>
    <p:sldId id="354" r:id="rId16"/>
    <p:sldId id="353" r:id="rId17"/>
    <p:sldId id="355" r:id="rId18"/>
    <p:sldId id="356" r:id="rId19"/>
    <p:sldId id="359" r:id="rId20"/>
    <p:sldId id="358" r:id="rId21"/>
    <p:sldId id="357" r:id="rId22"/>
    <p:sldId id="360" r:id="rId23"/>
    <p:sldId id="361" r:id="rId24"/>
    <p:sldId id="362" r:id="rId25"/>
    <p:sldId id="364" r:id="rId26"/>
    <p:sldId id="365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135" d="100"/>
          <a:sy n="135" d="100"/>
        </p:scale>
        <p:origin x="12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3BE999-9D79-451D-AA64-C7E198F34856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EE5CA-28BF-4C09-A261-D7B8DC04D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64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1843D9-BBE1-666A-684E-95A5B3239BE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ea typeface="210 굴림OTF 070" panose="02020503020101020101" pitchFamily="18" charset="-127"/>
                <a:cs typeface="Times New Roman" panose="02020603050405020304" pitchFamily="18" charset="0"/>
              </a:defRPr>
            </a:lvl1pPr>
          </a:lstStyle>
          <a:p>
            <a:r>
              <a:rPr lang="en-US" altLang="ko-KR" dirty="0"/>
              <a:t>Hello World!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6862590-7793-E4DC-9848-D70C579022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ea typeface="210 M고딕OTF 050" panose="02020503020101020101" pitchFamily="18" charset="-127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DB5594-B36F-550C-87AA-872D160BA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CC632-7EF8-4694-B395-BC4AA4492B96}" type="datetime1">
              <a:rPr lang="en-US" altLang="ko-KR" smtClean="0"/>
              <a:t>1/14/2026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ADF123-83AF-B827-F60D-F07C3431D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FD8016-B96A-EA99-8CA4-2F07CB35F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249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641846-A3C4-66BE-C19B-426B1493C7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latin typeface="Times New Roman" panose="02020603050405020304" pitchFamily="18" charset="0"/>
                <a:ea typeface="210 굴림OTF 070" panose="02020503020101020101" pitchFamily="18" charset="-127"/>
                <a:cs typeface="Times New Roman" panose="02020603050405020304" pitchFamily="18" charset="0"/>
              </a:defRPr>
            </a:lvl1pPr>
          </a:lstStyle>
          <a:p>
            <a:r>
              <a:rPr lang="en-US" altLang="ko-KR" dirty="0" err="1"/>
              <a:t>Titl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1C5572-D860-474C-3FA5-5E30E8F39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ea typeface="210 M고딕OTF 050" panose="02020503020101020101" pitchFamily="18" charset="-127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ea typeface="210 M고딕OTF 050" panose="02020503020101020101" pitchFamily="18" charset="-127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ea typeface="210 M고딕OTF 050" panose="02020503020101020101" pitchFamily="18" charset="-127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ea typeface="210 M고딕OTF 050" panose="02020503020101020101" pitchFamily="18" charset="-127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ea typeface="210 M고딕OTF 050" panose="02020503020101020101" pitchFamily="18" charset="-127"/>
                <a:cs typeface="Times New Roman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FDAD4A-25E5-4A46-10C7-7DC6F9AF9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1/14/2026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901BD3-8305-43B3-9923-257FBF170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dirty="0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2B44BB-CE6C-823A-1547-823312779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1830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001690-CD05-4B40-37BD-737F6C4BE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424CA2-E3AC-3DB7-5EA0-BCCFBFD70F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D75187-6338-EB7F-84C2-A8DFDBA5F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41B1B-2377-484C-AE5F-2482D325568D}" type="datetime1">
              <a:rPr lang="en-US" altLang="ko-KR" smtClean="0"/>
              <a:t>1/14/2026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F116DC-C2D2-17FD-0670-4018A0457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8D9505-77F3-973A-4A77-407A7D101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7223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271688-7777-D341-8BE2-B080030C2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56C86A-D334-9460-D672-B469FF4746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1EF012F-B037-6BC0-DCEC-41C4F997C5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4074B44-9A1F-1A00-7071-B7A0D8F93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201A2-46DF-4BFF-9016-C8103CEDFB81}" type="datetime1">
              <a:rPr lang="en-US" altLang="ko-KR" smtClean="0"/>
              <a:t>1/14/2026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AD2EE9-C27C-2D74-C73E-A37EEB3C0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CC3845-FA21-6B62-D010-5AFE32EA6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8955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1A7400-0404-7A85-2E7E-032869E17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A737AF-1D5B-C0D9-87FA-4C1B726F8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1BA33EE-9A1D-AB71-3288-76B57DFA94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153D09D-7D5A-ABE8-DE38-113722A789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E84B54F-E9B1-D2C4-EC9A-A7DC1D4588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08A019-7B32-D688-0429-54BDB5A96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608F3-A94B-4B80-B11C-3E927B27F2B8}" type="datetime1">
              <a:rPr lang="en-US" altLang="ko-KR" smtClean="0"/>
              <a:t>1/14/2026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71D7954-2837-A14F-9B6C-076BD5F20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5B908F5-F72E-9604-D306-DD32A042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383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6B1B86-EBE2-0F57-090C-C31ACA793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47053E8-F883-E4FE-AE74-EAD091EE7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13BB6-D684-4DF5-B5F0-CCFDC51A617B}" type="datetime1">
              <a:rPr lang="en-US" altLang="ko-KR" smtClean="0"/>
              <a:t>1/14/2026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FC7B020-F6E2-6C53-D638-67BAA47B2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D964D6A-08B3-7E5C-D2B6-F9A83DBD5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3140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49B6784-24C4-FD43-CC24-A65B3BF3C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2D348-75BB-4FFE-A28E-8CED510818E6}" type="datetime1">
              <a:rPr lang="en-US" altLang="ko-KR" smtClean="0"/>
              <a:t>1/14/2026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228DAE8-9990-66D8-F5E0-00F83A6E4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C4574D-AE4B-6ACA-30E6-5BEF9C38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1478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A096AC-8778-2324-A216-02EA2B766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06749C-BFA7-E361-D0A8-12DF99A35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4BFB7CF-8E79-4D8C-1C94-05BCE7C600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CCADF7-23A1-E5F4-CC89-52E73F542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E788B-E27C-4361-9F1C-F5324F7742D7}" type="datetime1">
              <a:rPr lang="en-US" altLang="ko-KR" smtClean="0"/>
              <a:t>1/14/2026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E85F17-A3BF-7343-5350-697CE9FB2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07DA9AE-1B19-89FA-ADAD-7F7E345E8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3766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6D8925-5F77-79D9-978F-933303C46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35858C2-0CBE-DB93-826B-B8F0A60A08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D7916A2-7F4C-4213-A59D-9A6AC9D24C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77B87D-17FA-2955-5560-AF994A738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A0440-C9FD-4F99-90BA-78EFFB603E89}" type="datetime1">
              <a:rPr lang="en-US" altLang="ko-KR" smtClean="0"/>
              <a:t>1/14/2026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B5E172-8C53-896B-03D0-18189115F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5A806D-5830-CB0B-19AE-8BC7CE3AD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4941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B5BE68-DACB-517B-3599-DEA085758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6A12748-1AFA-BCD3-2832-DBC0E015E5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7B65E9-6AA9-EA17-BAA6-E2879984F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9198C-CCE9-460E-AED7-4A9395234AFF}" type="datetime1">
              <a:rPr lang="en-US" altLang="ko-KR" smtClean="0"/>
              <a:t>1/14/2026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807831-DE17-1D7C-798E-71E628A65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DE0FA4-F72C-A75A-3309-34C725BD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5608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093F05D-9D7F-0113-A82F-B9933690AF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4F68516-4C05-0C13-7E89-B7818AA4F4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E97CB8-660C-2EC4-45A1-F733832E1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F4432-EBCE-4AAB-A7BA-6A72C50DCDD2}" type="datetime1">
              <a:rPr lang="en-US" altLang="ko-KR" smtClean="0"/>
              <a:t>1/14/2026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BD62C1-191F-FBBB-783F-303237055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3CC41C-E7FB-5CD5-F05E-F9A0123B2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9132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D68E3F1-AC57-A1DB-19D3-B33ADE935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BD850F-97E2-EFEC-FA26-4E7BB682D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F08438-D9C2-83FB-7F99-A83A8D6C8D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E36EF872-42A0-4E78-9488-31172969FC5A}" type="datetime1">
              <a:rPr lang="en-US" altLang="ko-KR" smtClean="0"/>
              <a:t>1/14/2026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37D593-7453-216C-9AD2-F38172F88C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ko-KR" dirty="0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DA6965-E14F-BC2D-ED1F-9D4D0E79E8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DA7F9607-BA5C-406C-B8F1-9CD3498981D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1394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AF5AA7-7F5B-24D7-B71F-FC5EB4379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1429" y="1122363"/>
            <a:ext cx="9289142" cy="2387600"/>
          </a:xfrm>
        </p:spPr>
        <p:txBody>
          <a:bodyPr>
            <a:normAutofit/>
          </a:bodyPr>
          <a:lstStyle/>
          <a:p>
            <a:r>
              <a:rPr lang="en-US" sz="4400" b="1" dirty="0" err="1"/>
              <a:t>VideoHallu</a:t>
            </a:r>
            <a:r>
              <a:rPr lang="en-US" sz="4400" b="1" dirty="0"/>
              <a:t>: Evaluating and Mitigating Multi-modal Hallucinations on Synthetic Video Understanding</a:t>
            </a:r>
            <a:endParaRPr lang="ko-KR" altLang="en-US" sz="4400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97C7B6F-3686-B164-88FE-C376C79BC3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Presenter: Kim Seung Hwan (seunghwan.kim@snu.ac.kr)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7208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E15193-5D51-E616-0CD6-F64F80DDD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1/14/2026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6B4ADD-0230-7809-D548-91C0DD004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79A397-71A6-51B6-E647-23B12BCC7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2</a:t>
            </a:fld>
            <a:endParaRPr lang="ko-KR" altLang="en-US"/>
          </a:p>
        </p:txBody>
      </p:sp>
      <p:pic>
        <p:nvPicPr>
          <p:cNvPr id="3" name="그림 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E37D9E2-F97C-680E-DB7C-7C16CE9E7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071" y="952154"/>
            <a:ext cx="10259857" cy="49536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2D426C4-D375-7331-E73E-14999EBBE95F}"/>
              </a:ext>
            </a:extLst>
          </p:cNvPr>
          <p:cNvSpPr txBox="1"/>
          <p:nvPr/>
        </p:nvSpPr>
        <p:spPr>
          <a:xfrm>
            <a:off x="3459126" y="5905845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Neurips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2025</a:t>
            </a:r>
          </a:p>
        </p:txBody>
      </p:sp>
    </p:spTree>
    <p:extLst>
      <p:ext uri="{BB962C8B-B14F-4D97-AF65-F5344CB8AC3E}">
        <p14:creationId xmlns:p14="http://schemas.microsoft.com/office/powerpoint/2010/main" val="4026860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4CF7A9-BC7A-910B-A833-38C982352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F161F6-157A-54D9-41BE-F2B8403E8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Video VLMs are currently quite powerful in benchmarks</a:t>
            </a:r>
          </a:p>
          <a:p>
            <a:r>
              <a:rPr lang="en-US" dirty="0"/>
              <a:t>However, hallucinations are frequently reported</a:t>
            </a:r>
          </a:p>
          <a:p>
            <a:r>
              <a:rPr lang="en-US" dirty="0"/>
              <a:t>Prior dependences, particularly strong contextual/language biases</a:t>
            </a:r>
          </a:p>
          <a:p>
            <a:r>
              <a:rPr lang="en-US" dirty="0"/>
              <a:t>And visual-language correlation priors, are problematic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F2C737-F61B-5E48-BB4E-EA54BAE81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1/14/2026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5F5A7C-5C8C-6CB5-B9F1-C321FFFE3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596BA7-091C-F1EA-288E-19583B8DF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655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100CD-4519-6CA5-D557-EFD9ACA82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5B47AF-22D3-2DE3-6639-EF47FF7CA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7C4A48-6D41-01DF-82F9-8BFD3F998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of these VLM evaluations rely on positive-control test,</a:t>
            </a:r>
          </a:p>
          <a:p>
            <a:r>
              <a:rPr lang="en-US" dirty="0"/>
              <a:t>that is, real-world data drawn from distributions closely aligned with training data</a:t>
            </a:r>
          </a:p>
          <a:p>
            <a:r>
              <a:rPr lang="en-US" dirty="0"/>
              <a:t>Do current VLMs genuinely reason about visual cues,</a:t>
            </a:r>
          </a:p>
          <a:p>
            <a:r>
              <a:rPr lang="en-US" dirty="0"/>
              <a:t>Or do they merely exploit prior visual-language correlations within familiar distributions?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096067-3387-58C3-3925-85546B922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1/14/2026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A3A5BA-1DC8-4708-9A04-0D3AF3ED1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600A3A-876A-C9C9-AA18-7F78C6866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3665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A1BD9-ED61-7F98-81E2-3AE481F8D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3208B9-347E-BDCC-C960-CDF0B3FB6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1/14/2026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00F646-D78E-5677-52C2-313030DFA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F7E2DF-0427-652E-7898-CB0B59A22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8" name="그림 7" descr="텍스트, 스크린샷, 메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1638BE3-6E9C-D7B6-7167-246F9B8AB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0569" y="236903"/>
            <a:ext cx="8270862" cy="598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854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DC322-FF5D-426C-CC34-419BCC894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45DD49-F60F-847A-782D-95EED6597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VideoHallu</a:t>
            </a:r>
            <a:r>
              <a:rPr lang="en-US" dirty="0"/>
              <a:t> Dataset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63C900-BB53-7521-EC70-0B4B73E75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Generate synthetic 987 videos with common sense or physical abnormalities, via Sora, Veo2, Kling, etc.</a:t>
            </a:r>
          </a:p>
          <a:p>
            <a:r>
              <a:rPr lang="en-US" dirty="0"/>
              <a:t>Craft adversarial VQA pairs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39029B-8AF9-D029-2C01-278683DA1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1/14/2026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250354-99F4-F6A2-AB26-76CB3AB1F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A2E575-1E70-5AD1-E9CE-C5FC1A01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7B744D1-CDDB-F411-70F8-AE504456A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270" y="3890939"/>
            <a:ext cx="10143460" cy="1245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844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A0A865-387B-7487-DEE4-AACD1AA69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EF32CC-5153-CA5C-09FA-F030A6583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AF9856-5677-E4E0-25E2-DF42EBA98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1/14/2026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CA13D7-F7C9-8726-8E5D-039418B13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2D80E2-DD8D-6AF7-B124-145867084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8" name="그림 7" descr="텍스트, 스크린샷, 폰트, 문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7E6DBC2-F369-B9C9-2BAF-2E494B77A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2214" y="136525"/>
            <a:ext cx="8307572" cy="6230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625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016B4-E27A-6F74-B4A9-138CAEFE5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B97D05-F47B-C7BC-FBDD-D62C92B30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1/14/2026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A28DAF-6BF5-DE1A-5077-822EF357C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FBE0EB-069B-CBB7-56D2-F079C88C1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11" name="그림 10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99E981C-829A-69FC-BA6F-D469530CA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7250" y="365125"/>
            <a:ext cx="6563833" cy="5817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555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21B137-827B-939B-53E1-C403A9FF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3EE125-0B46-9BA0-03E8-3D910D3551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&lt;55%, meaning slightly above random</a:t>
            </a:r>
          </a:p>
          <a:p>
            <a:r>
              <a:rPr lang="en-US" dirty="0" err="1"/>
              <a:t>CoT</a:t>
            </a:r>
            <a:r>
              <a:rPr lang="en-US" dirty="0"/>
              <a:t> reinforces language bias, leading to hallucination</a:t>
            </a:r>
          </a:p>
          <a:p>
            <a:r>
              <a:rPr lang="en-US" dirty="0"/>
              <a:t>Solely pre-training on real-world data biases visual grounding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4B20B5-D810-E88D-C9EA-2BC4EDBB4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1/14/2026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74FEF1-B1D2-F0CE-F9C3-032977385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25EF88-8D18-B045-2B2C-C6C150195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0096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306E6A-603B-C030-51B5-9F9E8DAAE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B45A50-047D-F556-254F-BE509DC37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EAB4E5-2B28-93B6-5D9A-B4B45A0A4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1/14/2026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B45CFE-5680-3C54-2939-DEDA5D930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5E47E2-FED2-70D8-1F9D-7C4ACFFC2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8" name="그림 7" descr="텍스트, 전자제품, 스크린샷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69EDFB5-1E17-A76E-0FD2-D55CECC03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186" y="365125"/>
            <a:ext cx="8339656" cy="582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242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8E3FF-681D-D7B2-3EBC-233BD57AB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9252E7-4D62-968A-FD4C-CCFB40DD3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24791F-9112-99B1-9BAC-431D802E5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fine-tune, GRPO is better,</a:t>
            </a:r>
          </a:p>
          <a:p>
            <a:r>
              <a:rPr lang="en-US" dirty="0"/>
              <a:t>And fine-tune does not degrade performance on common benchmarks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D391AD-3DCC-43D6-A9B6-18361A2C1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1/14/2026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92FF98-9872-057A-BC26-A95AAD573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34119E-0376-9F03-2D64-24A6A716D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8" name="그림 7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0E5EF5D-3880-995C-5294-A480226BA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774" y="2978284"/>
            <a:ext cx="5569252" cy="3049303"/>
          </a:xfrm>
          <a:prstGeom prst="rect">
            <a:avLst/>
          </a:prstGeom>
        </p:spPr>
      </p:pic>
      <p:pic>
        <p:nvPicPr>
          <p:cNvPr id="10" name="그림 9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5B8E238-9E1B-13AC-68B2-8BAE1EDEE8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8693" y="3521149"/>
            <a:ext cx="4896533" cy="241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062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00481-77E9-1780-D3C4-1CA87BD93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7CA727-C523-06A4-861E-F61392B59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A86CA5-F2E8-5732-65A4-4331FF00B0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VLMs hallucinate on Synthetic Data due to Neglect of Actual Visual Content</a:t>
            </a:r>
          </a:p>
          <a:p>
            <a:r>
              <a:rPr lang="en-US" dirty="0"/>
              <a:t>Critical thinking may be biased by language priors in synthetic visual abnormality detection</a:t>
            </a:r>
          </a:p>
          <a:p>
            <a:r>
              <a:rPr lang="en-US" dirty="0"/>
              <a:t>The high-quality negative control examples matter for model improvement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998D43-CDAF-C3DB-AFC2-FCDD30450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1/14/2026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9D4830-08CF-D8BD-CAE9-77A8D8370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8C97CB-4CC5-1892-0C09-A9CA38A9D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04480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AF5AA7-7F5B-24D7-B71F-FC5EB4379F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Thank you for listening</a:t>
            </a:r>
            <a:endParaRPr lang="ko-KR" altLang="en-US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97C7B6F-3686-B164-88FE-C376C79BC3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Presenter: Kim Seung Hwan (seunghwan.kim@snu.ac.kr)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949144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EEFB70-BE22-049F-1970-68B18BCB8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VTG Experiment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B3B460-6D85-76B5-ECE2-44CC7152F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Share failed experiments and thoughts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C7BB68-AA57-CA28-E150-3DDB0592A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1/14/2026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ADB059-8925-CF02-A416-C304602FE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ACBAC2-83F1-B03E-96C6-FD43EE856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72945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D3AAF-1596-3DDA-D39B-EA9D60930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FD22EB-9571-53A5-96D2-8BD314D60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Explainable AI Approach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ECCBDE-E509-9E37-52FA-EBAA48DC0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Apply gradient tracking to various locations, such as image frames and vision tokens</a:t>
            </a:r>
          </a:p>
          <a:p>
            <a:r>
              <a:rPr lang="en-US" dirty="0"/>
              <a:t>Backpropagate with P(Yes) value, i.e. the gradient algins with the direction of increasing P(Yes)</a:t>
            </a:r>
          </a:p>
          <a:p>
            <a:r>
              <a:rPr lang="en-US" dirty="0"/>
              <a:t>grad (</a:t>
            </a:r>
            <a:r>
              <a:rPr lang="en-US" dirty="0" err="1"/>
              <a:t>dP</a:t>
            </a:r>
            <a:r>
              <a:rPr lang="en-US" dirty="0"/>
              <a:t>(Yes)/</a:t>
            </a:r>
            <a:r>
              <a:rPr lang="en-US" dirty="0" err="1"/>
              <a:t>dFeature</a:t>
            </a:r>
            <a:r>
              <a:rPr lang="en-US" dirty="0"/>
              <a:t>), grad*Feature, and so on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D9D7E3-C586-747E-2E67-0AA406E8B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1/14/2026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6AB00D-42CC-63DF-FD8B-1C45BCC1D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C9E3E8-119C-0F11-0135-CE1B48F1F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51412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BBB52-6E24-BCF4-D70D-A49B39F62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FAFEF4-217D-9CED-2D64-888666603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Algorithmic Heuristics Approach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82E92D6-6ECE-3C9F-8D01-207BB3AA6E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If the length of the entire video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, the number of possible sections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(Of course, it depends on the resolution)</a:t>
                </a:r>
              </a:p>
              <a:p>
                <a:r>
                  <a:rPr lang="en-US" dirty="0"/>
                  <a:t>Used a commonly used optimization method.</a:t>
                </a:r>
              </a:p>
              <a:p>
                <a:r>
                  <a:rPr lang="en-US" dirty="0"/>
                  <a:t>First, split the entire image into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rad>
                  </m:oMath>
                </a14:m>
                <a:r>
                  <a:rPr lang="en-US" dirty="0"/>
                  <a:t> segments, and by defining each segment as a start and end point, we only need to examine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times (coarse prediction)</a:t>
                </a:r>
              </a:p>
              <a:p>
                <a:r>
                  <a:rPr lang="en-US" dirty="0"/>
                  <a:t>Afterwards, refine both ends of the resulting segments. Even if we look at the ends densely, it's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rad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so we need to examine them again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times (dense refinement)</a:t>
                </a: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82E92D6-6ECE-3C9F-8D01-207BB3AA6E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DB2E5F-9A31-5B98-17C6-7D03A4442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1/14/2026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CE887E-C7ED-DCA2-F8D2-0CFD538C1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9D5226-5B3E-1188-FE46-8C0F4AC64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19028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15DA9-250E-2034-0BF1-ED75100FE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73446C-C15B-F975-51FE-FA1BCF8DC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Algorithmic Heuristics Approach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8B8192-FF13-7540-695A-F85BFF0128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Also tried reinforcing visual cues after finding a coarse answer</a:t>
            </a:r>
          </a:p>
          <a:p>
            <a:r>
              <a:rPr lang="en-US" dirty="0"/>
              <a:t>That is, once it had a certain coarse answer, I refined the query by adding visual descriptions</a:t>
            </a:r>
          </a:p>
          <a:p>
            <a:r>
              <a:rPr lang="en-US" dirty="0"/>
              <a:t>e.g., Query=Man running. Reinforcement=Man wearing black, background is a tennis court.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B299DC-4897-F13A-3D68-275A09A73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1/14/2026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AC9B15-D84B-FB19-63C1-49D20E050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84B822-348D-99E6-5C1F-54A4F84C0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17</a:t>
            </a:fld>
            <a:endParaRPr lang="ko-KR" altLang="en-US" dirty="0"/>
          </a:p>
        </p:txBody>
      </p:sp>
      <p:pic>
        <p:nvPicPr>
          <p:cNvPr id="8" name="그림 7" descr="스케치, 그림, 라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E74E7C5-09D5-F828-3573-CF265E12A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238" y="4066075"/>
            <a:ext cx="9459645" cy="2200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3514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C0A98-81C3-4219-8C5A-B12735FD6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EB9756-7365-AAC5-63B1-65DDBCD81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Algorithmic Heuristics Approach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751BBA-5707-F4C4-2A2F-14A01B7C2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1/14/2026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811D44-9B90-073C-9E2C-736C71A11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9942D0-126E-5E45-DFCE-F41DAC2D0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18</a:t>
            </a:fld>
            <a:endParaRPr lang="ko-KR" altLang="en-US" dirty="0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FAB5CD80-BD5A-2275-CCD8-D456986D7B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5" name="그림 14" descr="텍스트, 스크린샷, 도표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8E7F5C3-855E-B09E-79AE-098E721F9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383" y="1904908"/>
            <a:ext cx="5240965" cy="4192772"/>
          </a:xfrm>
          <a:prstGeom prst="rect">
            <a:avLst/>
          </a:prstGeom>
        </p:spPr>
      </p:pic>
      <p:pic>
        <p:nvPicPr>
          <p:cNvPr id="17" name="그림 16" descr="텍스트, 스크린샷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1A98F98-A128-ABF2-463C-D5E6C1B1D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4278" y="1978627"/>
            <a:ext cx="5079705" cy="4063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2849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86AB3-CA7B-5AC5-26A6-43F1DBE05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D41761-F505-BA6F-BF83-C98B38FB3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Algorithmic Heuristics Approach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5D773E-3810-F6B4-C8AB-5E51F3400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1/14/2026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AFA0C4-6304-D1A2-5520-5AA9185FB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8160FE-7E54-D7BE-C4BC-E7676D087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19</a:t>
            </a:fld>
            <a:endParaRPr lang="ko-KR" altLang="en-US" dirty="0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7EDE63E3-11D5-51EE-82F4-1B8E7E9A17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그림 6" descr="텍스트, 스크린샷, 도표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C0883A8-7DA0-6BFD-F335-41B04A710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075" y="1881871"/>
            <a:ext cx="5200650" cy="4160520"/>
          </a:xfrm>
          <a:prstGeom prst="rect">
            <a:avLst/>
          </a:prstGeom>
        </p:spPr>
      </p:pic>
      <p:pic>
        <p:nvPicPr>
          <p:cNvPr id="10" name="그림 9" descr="텍스트, 스크린샷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9610AEA-C8D5-DA03-6091-BF462BE284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1963033"/>
            <a:ext cx="5099198" cy="4079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4809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3C76F-59EA-8E7C-E27A-74AEC88BD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61EC8F-C9B5-5D7C-048A-8F4F618DE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Algorithmic Heuristics Approach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11448F-0AA6-86B4-1BF6-68AAA97C4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1/14/2026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4DD189-102B-D53B-A54F-E2EDC7989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BA7274-D1AB-9B7A-2F3E-0D35FBC49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20</a:t>
            </a:fld>
            <a:endParaRPr lang="ko-KR" altLang="en-US" dirty="0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6D5C79AF-9624-642B-ADA7-0C0A081FF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1" name="그림 10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8CFFE83-9B28-E867-4A44-75404C719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533" y="1646238"/>
            <a:ext cx="7111054" cy="2770732"/>
          </a:xfrm>
          <a:prstGeom prst="rect">
            <a:avLst/>
          </a:prstGeom>
        </p:spPr>
      </p:pic>
      <p:pic>
        <p:nvPicPr>
          <p:cNvPr id="13" name="그림 1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E0DA7B6-9C4E-4252-0D61-96B2E98210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0934" y="3031604"/>
            <a:ext cx="6462866" cy="2752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0387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A3ED8-A797-8449-4096-49EF1A4C8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46B3F0-024F-C409-0FEF-D8D68EB51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Decomposing Query Approach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35D232-900A-9BF0-AF67-BCD405DD2E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query is clearly in the video</a:t>
            </a:r>
          </a:p>
          <a:p>
            <a:r>
              <a:rPr lang="en-US" dirty="0"/>
              <a:t>First, I fed VLM the entire video and described the start and end of the event</a:t>
            </a:r>
          </a:p>
          <a:p>
            <a:r>
              <a:rPr lang="en-US" dirty="0"/>
              <a:t>I used the description of the start and end as a new query and measured its confidence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1334B5-6C9E-7DB7-CB63-565816AC6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1/14/2026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2442E5-5157-CA02-52A9-105466D9A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179B98-A0AC-6FE8-6445-D9F633B44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6550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05BDA-D0D3-9171-557F-6A01FFD05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1D9FB7-2E5D-D9FE-EF74-9A9A1B9F0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Decomposing Query Approach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443741-DB21-111D-FC16-316B4C434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1/14/2026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719CE5-13F5-8BC5-4262-E252FA436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A13767-DF13-C46B-0B67-23A0A50F8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87B5995F-6299-A249-BA23-643617B68A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그림 9" descr="텍스트, 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AAF7A8F-4272-1B53-B7ED-DD205AD22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876" y="1646238"/>
            <a:ext cx="7796324" cy="4455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240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4B26A-FC0E-303A-0E94-F91983102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BFDD40-3831-074C-B331-55A4BEC9A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Decomposing Query Approach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AED94E-274C-61B4-D3AA-1DC6D4CF7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1/14/2026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8B02A9-C75F-D041-AE3F-1607F74FF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EA5C9D-26BE-9519-A51B-F23DCAB7F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2EE1ACC0-C123-155E-C06A-B49253E58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그림 6" descr="텍스트, 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9BB99E8-B90E-87CA-8B27-FE59BA15F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0983" y="1366875"/>
            <a:ext cx="8574617" cy="4899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6292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F9DAB-3CA8-854D-80A5-5D9E458E7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21C58F-8ECA-7D4D-091C-7D81B01BC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Decomposing Query Approach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503FBF-6A3D-9261-4256-0F271D103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1/14/2026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74834C-B874-DBA1-8A80-BA676E5CA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999D4B-814B-0DB1-6205-0BBF1F372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98D247C3-79ED-ABE4-C608-2EDCD713C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그림 8" descr="텍스트, 도표, 그래프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82610C0-A8E3-6723-5ABD-9C0606E76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518" y="1462088"/>
            <a:ext cx="8803878" cy="5030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8882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FFBF8-CD78-39D1-52F3-F2F2B89E1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B3FE4F-E3AC-26D7-9A56-413ADC0C9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Decomposing Query Approach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347AEE-EFD1-05CB-935D-A81083DDE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1/14/2026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781019-C6F2-584C-2AAF-BAF2055B8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C311A0-8128-B7BA-A7DD-4C87E13E3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6FBDFC48-6E0C-AA7E-0317-D9C8DAFAF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그림 2" descr="텍스트, 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C4816C2-1A92-0A77-ADE4-B75DE1971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592527"/>
            <a:ext cx="8430683" cy="4817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4387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273EC-AB40-B6B0-95DA-EEE454227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F98031-D828-BA2E-1B43-0FCB2D362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F5CDB7-1BBF-814C-44CB-CE7A6D981C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Refinement of queries without learning is not very helpful</a:t>
            </a:r>
          </a:p>
          <a:p>
            <a:r>
              <a:rPr lang="en-US" dirty="0"/>
              <a:t>The confidence figure is unreliable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confidence - 0.5*(length prior) seems to be very well designed to perform well by chance</a:t>
            </a:r>
          </a:p>
          <a:p>
            <a:r>
              <a:rPr lang="en-US" dirty="0"/>
              <a:t>I think, it would be better to trim it to be as lightweight and simple as possible and put it in a light place (poster, workshop, etc.)</a:t>
            </a:r>
          </a:p>
          <a:p>
            <a:r>
              <a:rPr lang="en-US" dirty="0"/>
              <a:t>Or just have to throw away the zero-shot task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9324AE-A35A-7822-0AE9-7506FD811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4853D-3525-485A-80D9-E006B4737537}" type="datetime1">
              <a:rPr lang="en-US" altLang="ko-KR" smtClean="0"/>
              <a:t>1/14/2026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A5E351-3FB8-9172-579B-CBA527DD4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/>
              <a:t>NCIA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B1FE45-960D-DB58-58CD-FB9234A1F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607-BA5C-406C-B8F1-9CD3498981D2}" type="slidenum">
              <a:rPr lang="ko-KR" altLang="en-US" smtClean="0"/>
              <a:t>26</a:t>
            </a:fld>
            <a:endParaRPr lang="ko-KR" altLang="en-US"/>
          </a:p>
        </p:txBody>
      </p:sp>
      <p:pic>
        <p:nvPicPr>
          <p:cNvPr id="8" name="그림 7" descr="텍스트, 스크린샷, 폰트, 정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74CF6E7-2111-94C4-3124-BEAEBF83E0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10803"/>
            <a:ext cx="7506748" cy="9812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8751D4D-D893-81E0-0A92-779DACAF6AB4}"/>
              </a:ext>
            </a:extLst>
          </p:cNvPr>
          <p:cNvSpPr txBox="1"/>
          <p:nvPr/>
        </p:nvSpPr>
        <p:spPr>
          <a:xfrm>
            <a:off x="8513134" y="3085965"/>
            <a:ext cx="32393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1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openreview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“Training-free Uncertainty Guidance for Complex Visual Tasks with MLLMs”</a:t>
            </a:r>
          </a:p>
        </p:txBody>
      </p:sp>
    </p:spTree>
    <p:extLst>
      <p:ext uri="{BB962C8B-B14F-4D97-AF65-F5344CB8AC3E}">
        <p14:creationId xmlns:p14="http://schemas.microsoft.com/office/powerpoint/2010/main" val="24211207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10792</TotalTime>
  <Words>689</Words>
  <Application>Microsoft Office PowerPoint</Application>
  <PresentationFormat>와이드스크린</PresentationFormat>
  <Paragraphs>136</Paragraphs>
  <Slides>26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2" baseType="lpstr">
      <vt:lpstr>맑은 고딕</vt:lpstr>
      <vt:lpstr>Aptos</vt:lpstr>
      <vt:lpstr>Arial</vt:lpstr>
      <vt:lpstr>Cambria Math</vt:lpstr>
      <vt:lpstr>Times New Roman</vt:lpstr>
      <vt:lpstr>Office 테마</vt:lpstr>
      <vt:lpstr>VideoHallu: Evaluating and Mitigating Multi-modal Hallucinations on Synthetic Video Understanding</vt:lpstr>
      <vt:lpstr>PowerPoint 프레젠테이션</vt:lpstr>
      <vt:lpstr>Problem</vt:lpstr>
      <vt:lpstr>Problem</vt:lpstr>
      <vt:lpstr>PowerPoint 프레젠테이션</vt:lpstr>
      <vt:lpstr>VideoHallu Dataset</vt:lpstr>
      <vt:lpstr>PowerPoint 프레젠테이션</vt:lpstr>
      <vt:lpstr>PowerPoint 프레젠테이션</vt:lpstr>
      <vt:lpstr>Experiment</vt:lpstr>
      <vt:lpstr>PowerPoint 프레젠테이션</vt:lpstr>
      <vt:lpstr>Experiment</vt:lpstr>
      <vt:lpstr>Discussion</vt:lpstr>
      <vt:lpstr>Thank you for listening</vt:lpstr>
      <vt:lpstr>VTG Experiment</vt:lpstr>
      <vt:lpstr>Explainable AI Approach</vt:lpstr>
      <vt:lpstr>Algorithmic Heuristics Approach</vt:lpstr>
      <vt:lpstr>Algorithmic Heuristics Approach</vt:lpstr>
      <vt:lpstr>Algorithmic Heuristics Approach</vt:lpstr>
      <vt:lpstr>Algorithmic Heuristics Approach</vt:lpstr>
      <vt:lpstr>Algorithmic Heuristics Approach</vt:lpstr>
      <vt:lpstr>Decomposing Query Approach</vt:lpstr>
      <vt:lpstr>Decomposing Query Approach</vt:lpstr>
      <vt:lpstr>Decomposing Query Approach</vt:lpstr>
      <vt:lpstr>Decomposing Query Approach</vt:lpstr>
      <vt:lpstr>Decomposing Query Approach</vt:lpstr>
      <vt:lpstr>Insights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Diffusion Model &amp; Determining Trained</dc:title>
  <dc:creator>김 승환</dc:creator>
  <cp:lastModifiedBy>김승환</cp:lastModifiedBy>
  <cp:revision>685</cp:revision>
  <dcterms:created xsi:type="dcterms:W3CDTF">2023-01-19T17:39:48Z</dcterms:created>
  <dcterms:modified xsi:type="dcterms:W3CDTF">2026-01-14T03:36:47Z</dcterms:modified>
</cp:coreProperties>
</file>